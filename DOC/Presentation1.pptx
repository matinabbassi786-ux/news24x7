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5" r:id="rId2"/>
    <p:sldId id="316" r:id="rId3"/>
    <p:sldId id="317"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0" r:id="rId28"/>
    <p:sldId id="281" r:id="rId29"/>
    <p:sldId id="279"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9AD71-CE55-49C7-9F27-D8567FE834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45CF3D-B2E3-EA53-D211-8A19136A1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924F98-F262-9E48-1A4D-97E5FE38EAD9}"/>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9EF0319E-E10C-2424-1015-0B3C4B298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9F04C-0649-98C5-5619-8079AA360C17}"/>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3325116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2D65E-E803-6F8C-E58A-398F68636C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59F01-FAF8-8489-F5F7-1022ABDF33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49997-B6A4-7107-9AAF-79380133697C}"/>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267D0E00-3B3B-DDD8-EFFA-380A383AC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1950E-A1E9-2CD7-0931-7601D9FD262B}"/>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3666844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D827B-2984-4287-2D99-FE1338334B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73E7D5-90AF-B905-C1AF-B6913D271C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C7B643-4A04-2808-0E5C-6302BA3ADC8F}"/>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2DC81355-6AB4-0A1C-9CA6-48D84D72C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63426C-1021-7ADF-8653-A55E00E68EE3}"/>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4294767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A215-6004-1B24-E4E5-2EC7DB06C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E7D1E4-4602-E97E-C242-361C438DDF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953E0B-A650-624A-47A7-7504898694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772C1F-B818-82BD-3E46-250989220C21}"/>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6" name="Footer Placeholder 5">
            <a:extLst>
              <a:ext uri="{FF2B5EF4-FFF2-40B4-BE49-F238E27FC236}">
                <a16:creationId xmlns:a16="http://schemas.microsoft.com/office/drawing/2014/main" id="{2C68A849-693E-E193-B755-29444A03F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B51BF2-640F-B780-7DA2-A73A4047B74B}"/>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2686864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201B6-DACE-2B62-83C7-189E7E2AEB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8DE1A-141B-F75E-80E0-B3AC54E3E4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5E84A0-F792-BC83-DCE4-38F9AD252D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AC688B-8695-E40B-A1AE-79CB641532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BAD162-9BD9-37D7-9EC6-4348CA3FEA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64A0FC-ADD8-C227-33A6-43B63F9D6359}"/>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8" name="Footer Placeholder 7">
            <a:extLst>
              <a:ext uri="{FF2B5EF4-FFF2-40B4-BE49-F238E27FC236}">
                <a16:creationId xmlns:a16="http://schemas.microsoft.com/office/drawing/2014/main" id="{6B2585E8-4926-D77E-30D3-A23E58DDE8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FC61A2-3B17-297B-2902-4FDF4D8C703F}"/>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4144119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7D221-A862-B4F6-7948-A5AA9715B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7A359C-D8BE-D252-CE98-A645183DE283}"/>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4" name="Footer Placeholder 3">
            <a:extLst>
              <a:ext uri="{FF2B5EF4-FFF2-40B4-BE49-F238E27FC236}">
                <a16:creationId xmlns:a16="http://schemas.microsoft.com/office/drawing/2014/main" id="{538F1643-BCBD-F805-6E47-27C477DA63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24AB6D-16B8-C37D-219E-A1EE10104583}"/>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1556773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E0A6D-8C98-48B0-F1AF-07AF0D12C8C0}"/>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3" name="Footer Placeholder 2">
            <a:extLst>
              <a:ext uri="{FF2B5EF4-FFF2-40B4-BE49-F238E27FC236}">
                <a16:creationId xmlns:a16="http://schemas.microsoft.com/office/drawing/2014/main" id="{99A8E0BD-1D95-027D-16C9-FF648A1E7A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4A85A7-5EF2-414A-896B-1578826A8A32}"/>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3657670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F304-8095-A23E-C420-81AC13397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A1F3E2-D75A-9159-227A-11B7282705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A626FB-D8B1-8CDC-F14C-E12719FBB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77EB3-28F0-B239-7887-0321B80BF982}"/>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6" name="Footer Placeholder 5">
            <a:extLst>
              <a:ext uri="{FF2B5EF4-FFF2-40B4-BE49-F238E27FC236}">
                <a16:creationId xmlns:a16="http://schemas.microsoft.com/office/drawing/2014/main" id="{974258B9-E712-9D23-6342-5CE1397147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D8B52C-E4C8-D2B4-15AF-E7335C23FB2C}"/>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1143163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53F0-1F86-F778-53AE-179D2F07B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B0A320-F8CA-0422-6537-240541D12D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4ED9DB-3FD0-AC22-2F70-AE405EA65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76F86A-7435-0E02-A72A-300DEF9CE5C8}"/>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6" name="Footer Placeholder 5">
            <a:extLst>
              <a:ext uri="{FF2B5EF4-FFF2-40B4-BE49-F238E27FC236}">
                <a16:creationId xmlns:a16="http://schemas.microsoft.com/office/drawing/2014/main" id="{3E7D47F1-F5F2-20E7-9789-9D755202D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E726EA-B2E2-2455-104B-03E3067B88A0}"/>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1556378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3696-AE8F-62C0-1388-37E0EC3379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D394AF-F634-D988-2C3F-005BD49C99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6B8134-536E-010A-EFFD-8A89C00824D7}"/>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4485708A-51AB-CC11-58D5-1961A409C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BB03D3-11DA-11FE-69F2-CB84DA6856AF}"/>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3904494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3A6175-90BA-B381-E253-055AF9149D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49D5E7-D0D7-AE7B-34E3-C17BF5F358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481D47-AF02-D97F-9657-CF31D8A079A3}"/>
              </a:ext>
            </a:extLst>
          </p:cNvPr>
          <p:cNvSpPr>
            <a:spLocks noGrp="1"/>
          </p:cNvSpPr>
          <p:nvPr>
            <p:ph type="dt" sz="half" idx="10"/>
          </p:nvPr>
        </p:nvSpPr>
        <p:spPr/>
        <p:txBody>
          <a:body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898E8268-9494-A772-6A0F-E450B4253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8CD52-FBE4-81EB-DE95-30046D333924}"/>
              </a:ext>
            </a:extLst>
          </p:cNvPr>
          <p:cNvSpPr>
            <a:spLocks noGrp="1"/>
          </p:cNvSpPr>
          <p:nvPr>
            <p:ph type="sldNum" sz="quarter" idx="12"/>
          </p:nvPr>
        </p:nvSpPr>
        <p:spPr/>
        <p:txBody>
          <a:bodyPr/>
          <a:lstStyle/>
          <a:p>
            <a:fld id="{1C9849B5-7B41-4CD3-A897-330588588323}" type="slidenum">
              <a:rPr lang="en-US" smtClean="0"/>
              <a:t>‹#›</a:t>
            </a:fld>
            <a:endParaRPr lang="en-US"/>
          </a:p>
        </p:txBody>
      </p:sp>
    </p:spTree>
    <p:extLst>
      <p:ext uri="{BB962C8B-B14F-4D97-AF65-F5344CB8AC3E}">
        <p14:creationId xmlns:p14="http://schemas.microsoft.com/office/powerpoint/2010/main" val="3829525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1CFC0B-B6A9-4D3A-45BF-21F9B56DE1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E8C6CD-EB2E-E35E-15F2-1D335BCCAA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18C6B3-5C69-2877-565B-494308043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4D152-945F-4695-880D-5A08532DF11C}" type="datetimeFigureOut">
              <a:rPr lang="en-US" smtClean="0"/>
              <a:t>10/4/2025</a:t>
            </a:fld>
            <a:endParaRPr lang="en-US"/>
          </a:p>
        </p:txBody>
      </p:sp>
      <p:sp>
        <p:nvSpPr>
          <p:cNvPr id="5" name="Footer Placeholder 4">
            <a:extLst>
              <a:ext uri="{FF2B5EF4-FFF2-40B4-BE49-F238E27FC236}">
                <a16:creationId xmlns:a16="http://schemas.microsoft.com/office/drawing/2014/main" id="{1DF33E42-3AD9-2F13-B39A-CD14C1623B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0189C3E-74AD-5AF8-B4A6-BD0F051DE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849B5-7B41-4CD3-A897-330588588323}" type="slidenum">
              <a:rPr lang="en-US" smtClean="0"/>
              <a:t>‹#›</a:t>
            </a:fld>
            <a:endParaRPr lang="en-US"/>
          </a:p>
        </p:txBody>
      </p:sp>
    </p:spTree>
    <p:extLst>
      <p:ext uri="{BB962C8B-B14F-4D97-AF65-F5344CB8AC3E}">
        <p14:creationId xmlns:p14="http://schemas.microsoft.com/office/powerpoint/2010/main" val="2518008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66C484BB-C877-BCAF-71A6-BFA57CA2554A}"/>
              </a:ext>
            </a:extLst>
          </p:cNvPr>
          <p:cNvPicPr>
            <a:picLocks/>
          </p:cNvPicPr>
          <p:nvPr/>
        </p:nvPicPr>
        <p:blipFill>
          <a:blip r:embed="rId2" cstate="print"/>
          <a:stretch>
            <a:fillRect/>
          </a:stretch>
        </p:blipFill>
        <p:spPr>
          <a:xfrm>
            <a:off x="248768" y="170427"/>
            <a:ext cx="3180232" cy="2920641"/>
          </a:xfrm>
          <a:prstGeom prst="rect">
            <a:avLst/>
          </a:prstGeom>
        </p:spPr>
      </p:pic>
      <p:sp>
        <p:nvSpPr>
          <p:cNvPr id="3" name="TextBox 2">
            <a:extLst>
              <a:ext uri="{FF2B5EF4-FFF2-40B4-BE49-F238E27FC236}">
                <a16:creationId xmlns:a16="http://schemas.microsoft.com/office/drawing/2014/main" id="{205B0189-74F7-46A5-9A3B-129E86DA536D}"/>
              </a:ext>
            </a:extLst>
          </p:cNvPr>
          <p:cNvSpPr txBox="1"/>
          <p:nvPr/>
        </p:nvSpPr>
        <p:spPr>
          <a:xfrm>
            <a:off x="6107937" y="441908"/>
            <a:ext cx="3038782" cy="954107"/>
          </a:xfrm>
          <a:prstGeom prst="rect">
            <a:avLst/>
          </a:prstGeom>
          <a:noFill/>
        </p:spPr>
        <p:txBody>
          <a:bodyPr wrap="none" rtlCol="0">
            <a:spAutoFit/>
          </a:bodyPr>
          <a:lstStyle/>
          <a:p>
            <a:pPr algn="ctr"/>
            <a:r>
              <a:rPr lang="en-US" sz="2800" dirty="0"/>
              <a:t>A Project Report on</a:t>
            </a:r>
          </a:p>
          <a:p>
            <a:pPr algn="ctr"/>
            <a:r>
              <a:rPr lang="en-US" sz="2800" b="1" dirty="0"/>
              <a:t>News24x7</a:t>
            </a:r>
            <a:endParaRPr lang="en-US" sz="2800" dirty="0"/>
          </a:p>
        </p:txBody>
      </p:sp>
      <p:sp>
        <p:nvSpPr>
          <p:cNvPr id="4" name="TextBox 3">
            <a:extLst>
              <a:ext uri="{FF2B5EF4-FFF2-40B4-BE49-F238E27FC236}">
                <a16:creationId xmlns:a16="http://schemas.microsoft.com/office/drawing/2014/main" id="{6CBC8F44-7F63-8A8D-73CF-80FB680EEEF5}"/>
              </a:ext>
            </a:extLst>
          </p:cNvPr>
          <p:cNvSpPr txBox="1"/>
          <p:nvPr/>
        </p:nvSpPr>
        <p:spPr>
          <a:xfrm>
            <a:off x="6947699" y="1455374"/>
            <a:ext cx="1895262" cy="461665"/>
          </a:xfrm>
          <a:prstGeom prst="rect">
            <a:avLst/>
          </a:prstGeom>
          <a:noFill/>
        </p:spPr>
        <p:txBody>
          <a:bodyPr wrap="none" rtlCol="0">
            <a:spAutoFit/>
          </a:bodyPr>
          <a:lstStyle/>
          <a:p>
            <a:r>
              <a:rPr lang="en-US" sz="2400" i="1" dirty="0"/>
              <a:t>Submitted To:</a:t>
            </a:r>
            <a:endParaRPr lang="en-US" sz="2400" dirty="0"/>
          </a:p>
        </p:txBody>
      </p:sp>
      <p:sp>
        <p:nvSpPr>
          <p:cNvPr id="5" name="TextBox 4">
            <a:extLst>
              <a:ext uri="{FF2B5EF4-FFF2-40B4-BE49-F238E27FC236}">
                <a16:creationId xmlns:a16="http://schemas.microsoft.com/office/drawing/2014/main" id="{8B57EE8B-7F40-585E-1622-B7C0FEC322CD}"/>
              </a:ext>
            </a:extLst>
          </p:cNvPr>
          <p:cNvSpPr txBox="1"/>
          <p:nvPr/>
        </p:nvSpPr>
        <p:spPr>
          <a:xfrm>
            <a:off x="4505524" y="1944844"/>
            <a:ext cx="6779613" cy="1138773"/>
          </a:xfrm>
          <a:prstGeom prst="rect">
            <a:avLst/>
          </a:prstGeom>
          <a:noFill/>
        </p:spPr>
        <p:txBody>
          <a:bodyPr wrap="none" rtlCol="0">
            <a:spAutoFit/>
          </a:bodyPr>
          <a:lstStyle/>
          <a:p>
            <a:pPr algn="ctr"/>
            <a:r>
              <a:rPr lang="en-US" sz="2400" dirty="0"/>
              <a:t>HEMCHANDRACHARYA NORTH GUJARAT UNIVERSITY</a:t>
            </a:r>
          </a:p>
          <a:p>
            <a:pPr algn="ctr"/>
            <a:r>
              <a:rPr lang="en-US" sz="2400" dirty="0"/>
              <a:t>For Partial Fulfillment towards the Award of Degree</a:t>
            </a:r>
          </a:p>
          <a:p>
            <a:pPr algn="ctr"/>
            <a:r>
              <a:rPr lang="en-US" sz="2000" dirty="0"/>
              <a:t> </a:t>
            </a:r>
          </a:p>
        </p:txBody>
      </p:sp>
      <p:sp>
        <p:nvSpPr>
          <p:cNvPr id="6" name="TextBox 5">
            <a:extLst>
              <a:ext uri="{FF2B5EF4-FFF2-40B4-BE49-F238E27FC236}">
                <a16:creationId xmlns:a16="http://schemas.microsoft.com/office/drawing/2014/main" id="{EDE0C9CE-0B2E-2438-FCFF-F41765251C42}"/>
              </a:ext>
            </a:extLst>
          </p:cNvPr>
          <p:cNvSpPr txBox="1"/>
          <p:nvPr/>
        </p:nvSpPr>
        <p:spPr>
          <a:xfrm>
            <a:off x="5320843" y="3594149"/>
            <a:ext cx="5418022" cy="1200329"/>
          </a:xfrm>
          <a:prstGeom prst="rect">
            <a:avLst/>
          </a:prstGeom>
          <a:noFill/>
        </p:spPr>
        <p:txBody>
          <a:bodyPr wrap="none" rtlCol="0">
            <a:spAutoFit/>
          </a:bodyPr>
          <a:lstStyle/>
          <a:p>
            <a:pPr algn="ctr"/>
            <a:r>
              <a:rPr lang="en-US" sz="2400" b="1" dirty="0"/>
              <a:t>Bachelor of Computer Applications (BCA)</a:t>
            </a:r>
            <a:endParaRPr lang="en-US" sz="2400" dirty="0"/>
          </a:p>
          <a:p>
            <a:pPr algn="ctr"/>
            <a:r>
              <a:rPr lang="en-US" sz="2400" b="1" dirty="0"/>
              <a:t>September - 2025</a:t>
            </a:r>
            <a:endParaRPr lang="en-US" sz="2400" dirty="0"/>
          </a:p>
          <a:p>
            <a:pPr algn="ctr"/>
            <a:endParaRPr lang="en-US" sz="2400" dirty="0"/>
          </a:p>
        </p:txBody>
      </p:sp>
      <p:sp>
        <p:nvSpPr>
          <p:cNvPr id="8" name="TextBox 7">
            <a:extLst>
              <a:ext uri="{FF2B5EF4-FFF2-40B4-BE49-F238E27FC236}">
                <a16:creationId xmlns:a16="http://schemas.microsoft.com/office/drawing/2014/main" id="{94FA1CE6-D859-B345-6788-B8FDCE05AA77}"/>
              </a:ext>
            </a:extLst>
          </p:cNvPr>
          <p:cNvSpPr txBox="1"/>
          <p:nvPr/>
        </p:nvSpPr>
        <p:spPr>
          <a:xfrm>
            <a:off x="530708" y="3594149"/>
            <a:ext cx="2616352" cy="461665"/>
          </a:xfrm>
          <a:prstGeom prst="rect">
            <a:avLst/>
          </a:prstGeom>
          <a:noFill/>
        </p:spPr>
        <p:txBody>
          <a:bodyPr wrap="square">
            <a:spAutoFit/>
          </a:bodyPr>
          <a:lstStyle/>
          <a:p>
            <a:pPr marL="1270" marR="635" algn="ctr">
              <a:spcBef>
                <a:spcPts val="1830"/>
              </a:spcBef>
              <a:buNone/>
            </a:pPr>
            <a:r>
              <a:rPr lang="en-US" sz="2400" i="1" dirty="0">
                <a:effectLst/>
                <a:latin typeface="Times New Roman" panose="02020603050405020304" pitchFamily="18" charset="0"/>
                <a:ea typeface="Cambria" panose="02040503050406030204" pitchFamily="18" charset="0"/>
                <a:cs typeface="Cambria" panose="02040503050406030204" pitchFamily="18" charset="0"/>
              </a:rPr>
              <a:t>Submitted</a:t>
            </a:r>
            <a:r>
              <a:rPr lang="en-US" sz="2400" i="1" spc="-65" dirty="0">
                <a:effectLst/>
                <a:latin typeface="Times New Roman" panose="02020603050405020304" pitchFamily="18" charset="0"/>
                <a:ea typeface="Cambria" panose="02040503050406030204" pitchFamily="18" charset="0"/>
                <a:cs typeface="Cambria" panose="02040503050406030204" pitchFamily="18" charset="0"/>
              </a:rPr>
              <a:t> </a:t>
            </a:r>
            <a:r>
              <a:rPr lang="en-US" sz="2400" i="1" spc="-25" dirty="0">
                <a:effectLst/>
                <a:latin typeface="Times New Roman" panose="02020603050405020304" pitchFamily="18" charset="0"/>
                <a:ea typeface="Cambria" panose="02040503050406030204" pitchFamily="18" charset="0"/>
                <a:cs typeface="Cambria" panose="02040503050406030204" pitchFamily="18" charset="0"/>
              </a:rPr>
              <a:t>by:</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p:txBody>
      </p:sp>
      <p:sp>
        <p:nvSpPr>
          <p:cNvPr id="9" name="TextBox 8">
            <a:extLst>
              <a:ext uri="{FF2B5EF4-FFF2-40B4-BE49-F238E27FC236}">
                <a16:creationId xmlns:a16="http://schemas.microsoft.com/office/drawing/2014/main" id="{5EBDCE58-95AB-B832-0EEE-19842ED5341B}"/>
              </a:ext>
            </a:extLst>
          </p:cNvPr>
          <p:cNvSpPr txBox="1"/>
          <p:nvPr/>
        </p:nvSpPr>
        <p:spPr>
          <a:xfrm>
            <a:off x="834887" y="4194314"/>
            <a:ext cx="2790316" cy="923330"/>
          </a:xfrm>
          <a:prstGeom prst="rect">
            <a:avLst/>
          </a:prstGeom>
          <a:noFill/>
        </p:spPr>
        <p:txBody>
          <a:bodyPr wrap="none" rtlCol="0">
            <a:spAutoFit/>
          </a:bodyPr>
          <a:lstStyle/>
          <a:p>
            <a:r>
              <a:rPr lang="en-US" b="1" i="1" dirty="0"/>
              <a:t>Matin Abbassi (</a:t>
            </a:r>
            <a:r>
              <a:rPr lang="en-US" b="1" dirty="0"/>
              <a:t>Roll No 45) </a:t>
            </a:r>
            <a:endParaRPr lang="en-US" dirty="0"/>
          </a:p>
          <a:p>
            <a:r>
              <a:rPr lang="en-US" b="1" i="1" dirty="0"/>
              <a:t>Pravin Kumar (</a:t>
            </a:r>
            <a:r>
              <a:rPr lang="en-US" b="1" dirty="0"/>
              <a:t>Roll No 32) </a:t>
            </a:r>
            <a:endParaRPr lang="en-US" dirty="0"/>
          </a:p>
          <a:p>
            <a:r>
              <a:rPr lang="en-US" b="1" i="1" dirty="0"/>
              <a:t>Utkarsh (</a:t>
            </a:r>
            <a:r>
              <a:rPr lang="en-US" b="1" dirty="0"/>
              <a:t>Roll No 28)</a:t>
            </a:r>
            <a:endParaRPr lang="en-US" dirty="0"/>
          </a:p>
        </p:txBody>
      </p:sp>
      <p:sp>
        <p:nvSpPr>
          <p:cNvPr id="10" name="TextBox 9">
            <a:extLst>
              <a:ext uri="{FF2B5EF4-FFF2-40B4-BE49-F238E27FC236}">
                <a16:creationId xmlns:a16="http://schemas.microsoft.com/office/drawing/2014/main" id="{8FFA5C66-D505-200E-650C-BAEA37FF0D9D}"/>
              </a:ext>
            </a:extLst>
          </p:cNvPr>
          <p:cNvSpPr txBox="1"/>
          <p:nvPr/>
        </p:nvSpPr>
        <p:spPr>
          <a:xfrm>
            <a:off x="99392" y="6082748"/>
            <a:ext cx="12061194" cy="923330"/>
          </a:xfrm>
          <a:prstGeom prst="rect">
            <a:avLst/>
          </a:prstGeom>
          <a:noFill/>
        </p:spPr>
        <p:txBody>
          <a:bodyPr wrap="square" rtlCol="0">
            <a:spAutoFit/>
          </a:bodyPr>
          <a:lstStyle/>
          <a:p>
            <a:pPr algn="ctr"/>
            <a:r>
              <a:rPr lang="en-US" b="1" dirty="0"/>
              <a:t>D.L. PATEL INSTITUTE OF MANAGEMENT &amp; TECHNOLOGY BCA COLLEGEVIDHYANAGARI, HIMATNAGAR</a:t>
            </a:r>
            <a:endParaRPr lang="en-US" dirty="0"/>
          </a:p>
          <a:p>
            <a:br>
              <a:rPr lang="en-US" b="1" dirty="0"/>
            </a:br>
            <a:endParaRPr lang="en-US" dirty="0"/>
          </a:p>
        </p:txBody>
      </p:sp>
      <p:sp>
        <p:nvSpPr>
          <p:cNvPr id="11" name="TextBox 10">
            <a:extLst>
              <a:ext uri="{FF2B5EF4-FFF2-40B4-BE49-F238E27FC236}">
                <a16:creationId xmlns:a16="http://schemas.microsoft.com/office/drawing/2014/main" id="{ED16F18E-6F62-3B34-B3C9-E0B6B58D88B7}"/>
              </a:ext>
            </a:extLst>
          </p:cNvPr>
          <p:cNvSpPr txBox="1"/>
          <p:nvPr/>
        </p:nvSpPr>
        <p:spPr>
          <a:xfrm>
            <a:off x="7698735" y="2877217"/>
            <a:ext cx="662238" cy="461665"/>
          </a:xfrm>
          <a:prstGeom prst="rect">
            <a:avLst/>
          </a:prstGeom>
          <a:noFill/>
        </p:spPr>
        <p:txBody>
          <a:bodyPr wrap="square" rtlCol="0">
            <a:spAutoFit/>
          </a:bodyPr>
          <a:lstStyle/>
          <a:p>
            <a:r>
              <a:rPr lang="en-US" sz="2400" dirty="0"/>
              <a:t>Of</a:t>
            </a:r>
            <a:endParaRPr lang="en-US" dirty="0"/>
          </a:p>
        </p:txBody>
      </p:sp>
    </p:spTree>
    <p:extLst>
      <p:ext uri="{BB962C8B-B14F-4D97-AF65-F5344CB8AC3E}">
        <p14:creationId xmlns:p14="http://schemas.microsoft.com/office/powerpoint/2010/main" val="137434077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185D3B-D56D-80CC-C037-179B5FC4A5AF}"/>
              </a:ext>
            </a:extLst>
          </p:cNvPr>
          <p:cNvSpPr txBox="1"/>
          <p:nvPr/>
        </p:nvSpPr>
        <p:spPr>
          <a:xfrm>
            <a:off x="4033520" y="406400"/>
            <a:ext cx="3832075" cy="584775"/>
          </a:xfrm>
          <a:prstGeom prst="rect">
            <a:avLst/>
          </a:prstGeom>
          <a:noFill/>
        </p:spPr>
        <p:txBody>
          <a:bodyPr wrap="none" rtlCol="0">
            <a:spAutoFit/>
          </a:bodyPr>
          <a:lstStyle/>
          <a:p>
            <a:pPr marL="457200" indent="-457200">
              <a:buFont typeface="Wingdings" panose="05000000000000000000" pitchFamily="2" charset="2"/>
              <a:buChar char="v"/>
            </a:pPr>
            <a:r>
              <a:rPr lang="en-US" sz="3200" b="1" dirty="0"/>
              <a:t>Acknowledgement</a:t>
            </a:r>
          </a:p>
        </p:txBody>
      </p:sp>
      <p:sp>
        <p:nvSpPr>
          <p:cNvPr id="3" name="TextBox 2">
            <a:extLst>
              <a:ext uri="{FF2B5EF4-FFF2-40B4-BE49-F238E27FC236}">
                <a16:creationId xmlns:a16="http://schemas.microsoft.com/office/drawing/2014/main" id="{D1F5212F-4C67-7B5A-4937-8D1027B23C6B}"/>
              </a:ext>
            </a:extLst>
          </p:cNvPr>
          <p:cNvSpPr txBox="1"/>
          <p:nvPr/>
        </p:nvSpPr>
        <p:spPr>
          <a:xfrm>
            <a:off x="665310" y="1477705"/>
            <a:ext cx="11155901" cy="1292662"/>
          </a:xfrm>
          <a:prstGeom prst="rect">
            <a:avLst/>
          </a:prstGeom>
          <a:noFill/>
        </p:spPr>
        <p:txBody>
          <a:bodyPr wrap="square" rtlCol="0">
            <a:spAutoFit/>
          </a:bodyPr>
          <a:lstStyle/>
          <a:p>
            <a:r>
              <a:rPr lang="en-US" sz="2000" dirty="0"/>
              <a:t>We are thrilled to present our project titled </a:t>
            </a:r>
            <a:r>
              <a:rPr lang="en-US" sz="2000" b="1" dirty="0"/>
              <a:t>"News24x7"</a:t>
            </a:r>
            <a:r>
              <a:rPr lang="en-US" sz="2000" dirty="0"/>
              <a:t> as a part of our Bachelor of Computer Applications (BCA) curriculum. Its successful completion would not have been possible without the support and guidance of several individuals, to whom we would like to express our sincere gratitude.</a:t>
            </a:r>
          </a:p>
          <a:p>
            <a:endParaRPr lang="en-US" dirty="0"/>
          </a:p>
        </p:txBody>
      </p:sp>
      <p:sp>
        <p:nvSpPr>
          <p:cNvPr id="4" name="TextBox 3">
            <a:extLst>
              <a:ext uri="{FF2B5EF4-FFF2-40B4-BE49-F238E27FC236}">
                <a16:creationId xmlns:a16="http://schemas.microsoft.com/office/drawing/2014/main" id="{AB8B2788-9ED2-3D6C-0148-6D3F59B95B24}"/>
              </a:ext>
            </a:extLst>
          </p:cNvPr>
          <p:cNvSpPr txBox="1"/>
          <p:nvPr/>
        </p:nvSpPr>
        <p:spPr>
          <a:xfrm>
            <a:off x="665310" y="2883240"/>
            <a:ext cx="10683410" cy="1908215"/>
          </a:xfrm>
          <a:prstGeom prst="rect">
            <a:avLst/>
          </a:prstGeom>
          <a:noFill/>
        </p:spPr>
        <p:txBody>
          <a:bodyPr wrap="square" rtlCol="0">
            <a:spAutoFit/>
          </a:bodyPr>
          <a:lstStyle/>
          <a:p>
            <a:r>
              <a:rPr lang="en-US" sz="2000" dirty="0"/>
              <a:t>First and foremost, we wish to express our profound gratitude to our project guide, </a:t>
            </a:r>
            <a:r>
              <a:rPr lang="en-US" sz="2000" b="1" dirty="0"/>
              <a:t>MR SR Vandan Upadhyaya,</a:t>
            </a:r>
            <a:r>
              <a:rPr lang="en-US" sz="2000" dirty="0"/>
              <a:t> Faculty of the Computer Science Department </a:t>
            </a:r>
            <a:r>
              <a:rPr lang="en-US" sz="2000" b="1" dirty="0"/>
              <a:t>at D.L. Patel Institute of Management &amp; Technology B.C.A. &amp; M.C.A College, </a:t>
            </a:r>
            <a:r>
              <a:rPr lang="en-US" sz="2000" b="1" dirty="0" err="1"/>
              <a:t>Vidhyanagar</a:t>
            </a:r>
            <a:r>
              <a:rPr lang="en-US" sz="2000" dirty="0"/>
              <a:t>. Their unwavering support, invaluable guidance, and insightful feedback at every stage were instrumental in shaping this project. Their patience and motivation kept us on track, especially when we encountered challenges.</a:t>
            </a:r>
          </a:p>
          <a:p>
            <a:endParaRPr lang="en-US" dirty="0"/>
          </a:p>
        </p:txBody>
      </p:sp>
    </p:spTree>
    <p:extLst>
      <p:ext uri="{BB962C8B-B14F-4D97-AF65-F5344CB8AC3E}">
        <p14:creationId xmlns:p14="http://schemas.microsoft.com/office/powerpoint/2010/main" val="316204117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D4C0A2-37A8-0964-7739-F7E3EC642E7E}"/>
              </a:ext>
            </a:extLst>
          </p:cNvPr>
          <p:cNvSpPr txBox="1"/>
          <p:nvPr/>
        </p:nvSpPr>
        <p:spPr>
          <a:xfrm>
            <a:off x="680720" y="670560"/>
            <a:ext cx="10627360" cy="1015663"/>
          </a:xfrm>
          <a:prstGeom prst="rect">
            <a:avLst/>
          </a:prstGeom>
          <a:noFill/>
        </p:spPr>
        <p:txBody>
          <a:bodyPr wrap="square" rtlCol="0">
            <a:spAutoFit/>
          </a:bodyPr>
          <a:lstStyle/>
          <a:p>
            <a:r>
              <a:rPr lang="en-US" sz="2000" dirty="0"/>
              <a:t>We are also thankful to our Head of Department, </a:t>
            </a:r>
            <a:r>
              <a:rPr lang="en-US" sz="2000" b="1" dirty="0"/>
              <a:t>I/C Principle Prof. Dr. Vishal R. Trivedi</a:t>
            </a:r>
            <a:r>
              <a:rPr lang="en-US" sz="2000" dirty="0"/>
              <a:t>, and the entire faculty and staff of the Computer Science department for providing us with the necessary resources and a conducive environment for learning and innovation.</a:t>
            </a:r>
          </a:p>
        </p:txBody>
      </p:sp>
      <p:sp>
        <p:nvSpPr>
          <p:cNvPr id="3" name="TextBox 2">
            <a:extLst>
              <a:ext uri="{FF2B5EF4-FFF2-40B4-BE49-F238E27FC236}">
                <a16:creationId xmlns:a16="http://schemas.microsoft.com/office/drawing/2014/main" id="{CCFBE7CC-609F-E4A6-ED4E-55BDB6108549}"/>
              </a:ext>
            </a:extLst>
          </p:cNvPr>
          <p:cNvSpPr txBox="1"/>
          <p:nvPr/>
        </p:nvSpPr>
        <p:spPr>
          <a:xfrm>
            <a:off x="680720" y="1981200"/>
            <a:ext cx="10840720" cy="707886"/>
          </a:xfrm>
          <a:prstGeom prst="rect">
            <a:avLst/>
          </a:prstGeom>
          <a:noFill/>
        </p:spPr>
        <p:txBody>
          <a:bodyPr wrap="square" rtlCol="0">
            <a:spAutoFit/>
          </a:bodyPr>
          <a:lstStyle/>
          <a:p>
            <a:r>
              <a:rPr lang="en-US" sz="2000" dirty="0"/>
              <a:t>Our heartfelt thanks go to our lab assistants and the college staff for their timely technical support during the development and testing phases of our project.</a:t>
            </a:r>
          </a:p>
        </p:txBody>
      </p:sp>
      <p:sp>
        <p:nvSpPr>
          <p:cNvPr id="4" name="TextBox 3">
            <a:extLst>
              <a:ext uri="{FF2B5EF4-FFF2-40B4-BE49-F238E27FC236}">
                <a16:creationId xmlns:a16="http://schemas.microsoft.com/office/drawing/2014/main" id="{6A6DF543-2937-86DB-BD18-3EFC272030BA}"/>
              </a:ext>
            </a:extLst>
          </p:cNvPr>
          <p:cNvSpPr txBox="1"/>
          <p:nvPr/>
        </p:nvSpPr>
        <p:spPr>
          <a:xfrm>
            <a:off x="680720" y="2967335"/>
            <a:ext cx="10840720" cy="1323439"/>
          </a:xfrm>
          <a:prstGeom prst="rect">
            <a:avLst/>
          </a:prstGeom>
          <a:noFill/>
        </p:spPr>
        <p:txBody>
          <a:bodyPr wrap="square" rtlCol="0">
            <a:spAutoFit/>
          </a:bodyPr>
          <a:lstStyle/>
          <a:p>
            <a:r>
              <a:rPr lang="en-US" sz="2000" dirty="0"/>
              <a:t>We are incredibly grateful for the seamless collaboration and relentless effort of our team members, </a:t>
            </a:r>
            <a:r>
              <a:rPr lang="en-US" sz="2000" b="1" dirty="0"/>
              <a:t>Matin, Pravin &amp; Utkarsh</a:t>
            </a:r>
            <a:r>
              <a:rPr lang="en-US" sz="2000" dirty="0"/>
              <a:t>. Their dedication, hard work, and constructive discussions were the backbone of this project. It was a truly enriching experience to work together and combine our skills to achieve this goal.</a:t>
            </a:r>
          </a:p>
        </p:txBody>
      </p:sp>
      <p:sp>
        <p:nvSpPr>
          <p:cNvPr id="5" name="TextBox 4">
            <a:extLst>
              <a:ext uri="{FF2B5EF4-FFF2-40B4-BE49-F238E27FC236}">
                <a16:creationId xmlns:a16="http://schemas.microsoft.com/office/drawing/2014/main" id="{A842EB56-8FD8-4C4A-3556-42055FFDF1B8}"/>
              </a:ext>
            </a:extLst>
          </p:cNvPr>
          <p:cNvSpPr txBox="1"/>
          <p:nvPr/>
        </p:nvSpPr>
        <p:spPr>
          <a:xfrm>
            <a:off x="680720" y="4639529"/>
            <a:ext cx="10363200" cy="1015663"/>
          </a:xfrm>
          <a:prstGeom prst="rect">
            <a:avLst/>
          </a:prstGeom>
          <a:noFill/>
        </p:spPr>
        <p:txBody>
          <a:bodyPr wrap="square" rtlCol="0">
            <a:spAutoFit/>
          </a:bodyPr>
          <a:lstStyle/>
          <a:p>
            <a:r>
              <a:rPr lang="en-US" sz="2000" dirty="0"/>
              <a:t>Lastly, we would be remiss if we did not thank our families and friends for their constant encouragement, unwavering belief in our abilities, and for providing us with the moral support needed to complete this work.</a:t>
            </a:r>
          </a:p>
        </p:txBody>
      </p:sp>
    </p:spTree>
    <p:extLst>
      <p:ext uri="{BB962C8B-B14F-4D97-AF65-F5344CB8AC3E}">
        <p14:creationId xmlns:p14="http://schemas.microsoft.com/office/powerpoint/2010/main" val="15949071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F063B96-5B17-46CB-2961-66CD8F446229}"/>
              </a:ext>
            </a:extLst>
          </p:cNvPr>
          <p:cNvSpPr txBox="1"/>
          <p:nvPr/>
        </p:nvSpPr>
        <p:spPr>
          <a:xfrm>
            <a:off x="4899999" y="238538"/>
            <a:ext cx="2392001" cy="646331"/>
          </a:xfrm>
          <a:prstGeom prst="rect">
            <a:avLst/>
          </a:prstGeom>
          <a:noFill/>
        </p:spPr>
        <p:txBody>
          <a:bodyPr wrap="none" rtlCol="0">
            <a:spAutoFit/>
          </a:bodyPr>
          <a:lstStyle/>
          <a:p>
            <a:r>
              <a:rPr lang="en-US" sz="3600" b="1" dirty="0"/>
              <a:t>Declaration</a:t>
            </a:r>
          </a:p>
        </p:txBody>
      </p:sp>
      <p:sp>
        <p:nvSpPr>
          <p:cNvPr id="11" name="TextBox 10">
            <a:extLst>
              <a:ext uri="{FF2B5EF4-FFF2-40B4-BE49-F238E27FC236}">
                <a16:creationId xmlns:a16="http://schemas.microsoft.com/office/drawing/2014/main" id="{F1FB253F-C377-744B-BC4E-DD31380289C8}"/>
              </a:ext>
            </a:extLst>
          </p:cNvPr>
          <p:cNvSpPr txBox="1"/>
          <p:nvPr/>
        </p:nvSpPr>
        <p:spPr>
          <a:xfrm>
            <a:off x="854765" y="884869"/>
            <a:ext cx="2494722"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b="1" i="1" dirty="0"/>
              <a:t>Project Overview</a:t>
            </a:r>
          </a:p>
        </p:txBody>
      </p:sp>
      <p:sp>
        <p:nvSpPr>
          <p:cNvPr id="12" name="TextBox 11">
            <a:extLst>
              <a:ext uri="{FF2B5EF4-FFF2-40B4-BE49-F238E27FC236}">
                <a16:creationId xmlns:a16="http://schemas.microsoft.com/office/drawing/2014/main" id="{280BA7BA-83E7-A69E-9A0C-DA25BC1523C7}"/>
              </a:ext>
            </a:extLst>
          </p:cNvPr>
          <p:cNvSpPr txBox="1"/>
          <p:nvPr/>
        </p:nvSpPr>
        <p:spPr>
          <a:xfrm>
            <a:off x="854765" y="1421296"/>
            <a:ext cx="10908709" cy="2585323"/>
          </a:xfrm>
          <a:prstGeom prst="rect">
            <a:avLst/>
          </a:prstGeom>
          <a:noFill/>
        </p:spPr>
        <p:txBody>
          <a:bodyPr wrap="square" rtlCol="0">
            <a:spAutoFit/>
          </a:bodyPr>
          <a:lstStyle/>
          <a:p>
            <a:pPr marL="285750" lvl="0" indent="-285750">
              <a:buFont typeface="Wingdings" panose="05000000000000000000" pitchFamily="2" charset="2"/>
              <a:buChar char="Ø"/>
            </a:pPr>
            <a:r>
              <a:rPr lang="en-US" b="1" dirty="0"/>
              <a:t>Project Title:</a:t>
            </a:r>
            <a:r>
              <a:rPr lang="en-US" dirty="0"/>
              <a:t> News24x7 - Modern News Aggregation Platform</a:t>
            </a:r>
          </a:p>
          <a:p>
            <a:endParaRPr lang="en-US" dirty="0"/>
          </a:p>
          <a:p>
            <a:pPr marL="285750" lvl="0" indent="-285750">
              <a:buFont typeface="Wingdings" panose="05000000000000000000" pitchFamily="2" charset="2"/>
              <a:buChar char="Ø"/>
            </a:pPr>
            <a:r>
              <a:rPr lang="en-US" b="1" dirty="0"/>
              <a:t>Technology Stack:</a:t>
            </a:r>
            <a:r>
              <a:rPr lang="en-US" dirty="0"/>
              <a:t> Django, MySQL, HTML/CSS/JavaScript, Bootstrap, jQuery, slick slider, fancy box, chart s, Sun editor</a:t>
            </a:r>
          </a:p>
          <a:p>
            <a:pPr marL="285750" lvl="0" indent="-285750">
              <a:buFont typeface="Wingdings" panose="05000000000000000000" pitchFamily="2" charset="2"/>
              <a:buChar char="Ø"/>
            </a:pPr>
            <a:endParaRPr lang="en-US" dirty="0"/>
          </a:p>
          <a:p>
            <a:pPr marL="285750" lvl="0" indent="-285750">
              <a:buFont typeface="Wingdings" panose="05000000000000000000" pitchFamily="2" charset="2"/>
              <a:buChar char="Ø"/>
            </a:pPr>
            <a:r>
              <a:rPr lang="en-US" b="1" dirty="0"/>
              <a:t>Project Duration:</a:t>
            </a:r>
            <a:r>
              <a:rPr lang="en-US" dirty="0"/>
              <a:t> 3 Months  </a:t>
            </a:r>
          </a:p>
          <a:p>
            <a:pPr lvl="0"/>
            <a:endParaRPr lang="en-US" dirty="0"/>
          </a:p>
          <a:p>
            <a:pPr marL="285750" lvl="0" indent="-285750">
              <a:buFont typeface="Wingdings" panose="05000000000000000000" pitchFamily="2" charset="2"/>
              <a:buChar char="Ø"/>
            </a:pPr>
            <a:r>
              <a:rPr lang="en-US" b="1" dirty="0"/>
              <a:t>Project Type:</a:t>
            </a:r>
            <a:r>
              <a:rPr lang="en-US" dirty="0"/>
              <a:t> Web Application Development</a:t>
            </a:r>
          </a:p>
          <a:p>
            <a:pPr marL="285750" indent="-285750">
              <a:buFont typeface="Wingdings" panose="05000000000000000000" pitchFamily="2" charset="2"/>
              <a:buChar char="Ø"/>
            </a:pPr>
            <a:endParaRPr lang="en-US" dirty="0"/>
          </a:p>
        </p:txBody>
      </p:sp>
      <p:sp>
        <p:nvSpPr>
          <p:cNvPr id="13" name="TextBox 12">
            <a:extLst>
              <a:ext uri="{FF2B5EF4-FFF2-40B4-BE49-F238E27FC236}">
                <a16:creationId xmlns:a16="http://schemas.microsoft.com/office/drawing/2014/main" id="{A97887E3-1C77-9E95-F778-97319AFF28E2}"/>
              </a:ext>
            </a:extLst>
          </p:cNvPr>
          <p:cNvSpPr txBox="1"/>
          <p:nvPr/>
        </p:nvSpPr>
        <p:spPr>
          <a:xfrm>
            <a:off x="854765" y="4142936"/>
            <a:ext cx="3001527" cy="400110"/>
          </a:xfrm>
          <a:prstGeom prst="rect">
            <a:avLst/>
          </a:prstGeom>
          <a:noFill/>
        </p:spPr>
        <p:txBody>
          <a:bodyPr wrap="none" rtlCol="0">
            <a:spAutoFit/>
          </a:bodyPr>
          <a:lstStyle/>
          <a:p>
            <a:pPr marL="342900" indent="-342900">
              <a:buFont typeface="Wingdings" panose="05000000000000000000" pitchFamily="2" charset="2"/>
              <a:buChar char="v"/>
            </a:pPr>
            <a:r>
              <a:rPr lang="en-US" sz="2000" b="1" i="1" dirty="0"/>
              <a:t>Team Structure &amp; Roles</a:t>
            </a:r>
          </a:p>
        </p:txBody>
      </p:sp>
      <p:sp>
        <p:nvSpPr>
          <p:cNvPr id="14" name="TextBox 13">
            <a:extLst>
              <a:ext uri="{FF2B5EF4-FFF2-40B4-BE49-F238E27FC236}">
                <a16:creationId xmlns:a16="http://schemas.microsoft.com/office/drawing/2014/main" id="{1BF60843-8316-3E04-2B9A-9AF024F82F38}"/>
              </a:ext>
            </a:extLst>
          </p:cNvPr>
          <p:cNvSpPr txBox="1"/>
          <p:nvPr/>
        </p:nvSpPr>
        <p:spPr>
          <a:xfrm>
            <a:off x="1222513" y="4679363"/>
            <a:ext cx="3136180" cy="1754326"/>
          </a:xfrm>
          <a:prstGeom prst="rect">
            <a:avLst/>
          </a:prstGeom>
          <a:noFill/>
        </p:spPr>
        <p:txBody>
          <a:bodyPr wrap="none" rtlCol="0">
            <a:spAutoFit/>
          </a:bodyPr>
          <a:lstStyle/>
          <a:p>
            <a:pPr marL="285750" lvl="0" indent="-285750">
              <a:buFont typeface="Arial" panose="020B0604020202020204" pitchFamily="34" charset="0"/>
              <a:buChar char="•"/>
            </a:pPr>
            <a:r>
              <a:rPr lang="en-US" b="1" dirty="0"/>
              <a:t>Developed by:</a:t>
            </a:r>
            <a:r>
              <a:rPr lang="en-US" dirty="0"/>
              <a:t> Matin</a:t>
            </a:r>
          </a:p>
          <a:p>
            <a:r>
              <a:rPr lang="en-US" dirty="0"/>
              <a:t> </a:t>
            </a:r>
          </a:p>
          <a:p>
            <a:pPr marL="285750" lvl="0" indent="-285750">
              <a:buFont typeface="Arial" panose="020B0604020202020204" pitchFamily="34" charset="0"/>
              <a:buChar char="•"/>
            </a:pPr>
            <a:r>
              <a:rPr lang="en-US" b="1" dirty="0"/>
              <a:t>Content written by:</a:t>
            </a:r>
            <a:r>
              <a:rPr lang="en-US" dirty="0"/>
              <a:t> Pravin</a:t>
            </a:r>
          </a:p>
          <a:p>
            <a:pPr lvl="0"/>
            <a:r>
              <a:rPr lang="en-US" dirty="0"/>
              <a:t> </a:t>
            </a:r>
          </a:p>
          <a:p>
            <a:pPr marL="285750" lvl="0" indent="-285750">
              <a:buFont typeface="Arial" panose="020B0604020202020204" pitchFamily="34" charset="0"/>
              <a:buChar char="•"/>
            </a:pPr>
            <a:r>
              <a:rPr lang="en-US" b="1" dirty="0"/>
              <a:t>Documentation by:</a:t>
            </a:r>
            <a:r>
              <a:rPr lang="en-US" dirty="0"/>
              <a:t> Utkarsh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0803473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501FA5-E525-8132-26C7-0194A8E9ED73}"/>
              </a:ext>
            </a:extLst>
          </p:cNvPr>
          <p:cNvSpPr txBox="1"/>
          <p:nvPr/>
        </p:nvSpPr>
        <p:spPr>
          <a:xfrm>
            <a:off x="4280310" y="238539"/>
            <a:ext cx="3631379" cy="707886"/>
          </a:xfrm>
          <a:prstGeom prst="rect">
            <a:avLst/>
          </a:prstGeom>
          <a:noFill/>
        </p:spPr>
        <p:txBody>
          <a:bodyPr wrap="none" rtlCol="0">
            <a:spAutoFit/>
          </a:bodyPr>
          <a:lstStyle/>
          <a:p>
            <a:r>
              <a:rPr lang="en-US" sz="4000" b="1" i="1" dirty="0"/>
              <a:t>Project Features</a:t>
            </a:r>
          </a:p>
        </p:txBody>
      </p:sp>
      <p:sp>
        <p:nvSpPr>
          <p:cNvPr id="5" name="TextBox 4">
            <a:extLst>
              <a:ext uri="{FF2B5EF4-FFF2-40B4-BE49-F238E27FC236}">
                <a16:creationId xmlns:a16="http://schemas.microsoft.com/office/drawing/2014/main" id="{F3978884-80B0-E3F3-E068-23CC53D10536}"/>
              </a:ext>
            </a:extLst>
          </p:cNvPr>
          <p:cNvSpPr txBox="1"/>
          <p:nvPr/>
        </p:nvSpPr>
        <p:spPr>
          <a:xfrm>
            <a:off x="944218" y="946425"/>
            <a:ext cx="2281522"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i="1" dirty="0"/>
              <a:t>User Features</a:t>
            </a:r>
          </a:p>
        </p:txBody>
      </p:sp>
      <p:sp>
        <p:nvSpPr>
          <p:cNvPr id="6" name="TextBox 5">
            <a:extLst>
              <a:ext uri="{FF2B5EF4-FFF2-40B4-BE49-F238E27FC236}">
                <a16:creationId xmlns:a16="http://schemas.microsoft.com/office/drawing/2014/main" id="{88E9EC64-7B6C-64AB-27C3-F9261769C693}"/>
              </a:ext>
            </a:extLst>
          </p:cNvPr>
          <p:cNvSpPr txBox="1"/>
          <p:nvPr/>
        </p:nvSpPr>
        <p:spPr>
          <a:xfrm>
            <a:off x="1318591" y="1517420"/>
            <a:ext cx="9919252" cy="4801314"/>
          </a:xfrm>
          <a:prstGeom prst="rect">
            <a:avLst/>
          </a:prstGeom>
          <a:noFill/>
        </p:spPr>
        <p:txBody>
          <a:bodyPr wrap="square" rtlCol="0">
            <a:spAutoFit/>
          </a:bodyPr>
          <a:lstStyle/>
          <a:p>
            <a:pPr marL="285750" lvl="0" indent="-285750">
              <a:buFont typeface="Wingdings" panose="05000000000000000000" pitchFamily="2" charset="2"/>
              <a:buChar char="Ø"/>
            </a:pPr>
            <a:r>
              <a:rPr lang="en-US" b="1" dirty="0"/>
              <a:t>Login &amp; Registration: </a:t>
            </a:r>
            <a:r>
              <a:rPr lang="en-US" dirty="0"/>
              <a:t>To securely authenticate users, create a unique identity on the platform, and enable personalized experiences.</a:t>
            </a:r>
          </a:p>
          <a:p>
            <a:pPr marL="285750" indent="-285750">
              <a:buFont typeface="Wingdings" panose="05000000000000000000" pitchFamily="2" charset="2"/>
              <a:buChar char="Ø"/>
            </a:pPr>
            <a:endParaRPr lang="en-US" dirty="0"/>
          </a:p>
          <a:p>
            <a:pPr marL="285750" lvl="0" indent="-285750">
              <a:buFont typeface="Wingdings" panose="05000000000000000000" pitchFamily="2" charset="2"/>
              <a:buChar char="Ø"/>
            </a:pPr>
            <a:r>
              <a:rPr lang="en-US" b="1" dirty="0"/>
              <a:t>User Profile</a:t>
            </a:r>
            <a:r>
              <a:rPr lang="en-US" dirty="0"/>
              <a:t>:  To provide a centralized hub for users to manage their identity, preferences, and activity on the platform.</a:t>
            </a:r>
          </a:p>
          <a:p>
            <a:r>
              <a:rPr lang="en-US" dirty="0"/>
              <a:t> </a:t>
            </a:r>
          </a:p>
          <a:p>
            <a:pPr marL="285750" lvl="0" indent="-285750">
              <a:buFont typeface="Wingdings" panose="05000000000000000000" pitchFamily="2" charset="2"/>
              <a:buChar char="Ø"/>
            </a:pPr>
            <a:r>
              <a:rPr lang="en-US" b="1" dirty="0"/>
              <a:t>Bookmark</a:t>
            </a:r>
            <a:r>
              <a:rPr lang="en-US" dirty="0"/>
              <a:t>: To allow users to save content for later consumption, creating a personalized reading list.</a:t>
            </a:r>
          </a:p>
          <a:p>
            <a:r>
              <a:rPr lang="en-US" dirty="0"/>
              <a:t> </a:t>
            </a:r>
          </a:p>
          <a:p>
            <a:pPr marL="285750" lvl="0" indent="-285750">
              <a:buFont typeface="Wingdings" panose="05000000000000000000" pitchFamily="2" charset="2"/>
              <a:buChar char="Ø"/>
            </a:pPr>
            <a:r>
              <a:rPr lang="en-US" b="1" dirty="0"/>
              <a:t>Follow &amp; Like:</a:t>
            </a:r>
            <a:r>
              <a:rPr lang="en-US" dirty="0"/>
              <a:t> Stay connected with your favorite topics and show your support.</a:t>
            </a:r>
          </a:p>
          <a:p>
            <a:r>
              <a:rPr lang="en-US" dirty="0"/>
              <a:t> </a:t>
            </a:r>
          </a:p>
          <a:p>
            <a:pPr marL="285750" lvl="0" indent="-285750">
              <a:buFont typeface="Wingdings" panose="05000000000000000000" pitchFamily="2" charset="2"/>
              <a:buChar char="Ø"/>
            </a:pPr>
            <a:r>
              <a:rPr lang="en-US" b="1" dirty="0"/>
              <a:t>Topics Following</a:t>
            </a:r>
            <a:r>
              <a:rPr lang="en-US" dirty="0"/>
              <a:t>:  Personalize your news feed by choosing the categories you care about most.</a:t>
            </a:r>
          </a:p>
          <a:p>
            <a:r>
              <a:rPr lang="en-US" b="1" dirty="0"/>
              <a:t> </a:t>
            </a:r>
            <a:endParaRPr lang="en-US" dirty="0"/>
          </a:p>
          <a:p>
            <a:pPr marL="285750" lvl="0" indent="-285750">
              <a:buFont typeface="Wingdings" panose="05000000000000000000" pitchFamily="2" charset="2"/>
              <a:buChar char="Ø"/>
            </a:pPr>
            <a:r>
              <a:rPr lang="en-US" b="1" dirty="0"/>
              <a:t>Comments on News:</a:t>
            </a:r>
            <a:r>
              <a:rPr lang="en-US" dirty="0"/>
              <a:t> Share your opinions and join discussions with other readers.</a:t>
            </a:r>
          </a:p>
          <a:p>
            <a:r>
              <a:rPr lang="en-US" dirty="0"/>
              <a:t> </a:t>
            </a:r>
          </a:p>
          <a:p>
            <a:pPr marL="285750" lvl="0" indent="-285750">
              <a:buFont typeface="Wingdings" panose="05000000000000000000" pitchFamily="2" charset="2"/>
              <a:buChar char="Ø"/>
            </a:pPr>
            <a:r>
              <a:rPr lang="en-US" dirty="0"/>
              <a:t> </a:t>
            </a:r>
            <a:r>
              <a:rPr lang="en-US" b="1" dirty="0"/>
              <a:t>Report News: </a:t>
            </a:r>
            <a:r>
              <a:rPr lang="en-US" dirty="0"/>
              <a:t>Help improve the platform by reporting false or inappropriate content.</a:t>
            </a:r>
          </a:p>
          <a:p>
            <a:r>
              <a:rPr lang="en-US" dirty="0"/>
              <a:t> </a:t>
            </a:r>
          </a:p>
          <a:p>
            <a:pPr marL="285750" lvl="0" indent="-285750">
              <a:buFont typeface="Wingdings" panose="05000000000000000000" pitchFamily="2" charset="2"/>
              <a:buChar char="Ø"/>
            </a:pPr>
            <a:r>
              <a:rPr lang="en-US" dirty="0"/>
              <a:t> </a:t>
            </a:r>
            <a:r>
              <a:rPr lang="en-US" b="1" dirty="0"/>
              <a:t>Language Options</a:t>
            </a:r>
            <a:r>
              <a:rPr lang="en-US" dirty="0"/>
              <a:t>: Access news in Hindi and Gujarati for wider reach.</a:t>
            </a:r>
          </a:p>
        </p:txBody>
      </p:sp>
    </p:spTree>
    <p:extLst>
      <p:ext uri="{BB962C8B-B14F-4D97-AF65-F5344CB8AC3E}">
        <p14:creationId xmlns:p14="http://schemas.microsoft.com/office/powerpoint/2010/main" val="74913316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70809B-68B2-21D1-4289-B9EE2E09CE07}"/>
              </a:ext>
            </a:extLst>
          </p:cNvPr>
          <p:cNvSpPr txBox="1"/>
          <p:nvPr/>
        </p:nvSpPr>
        <p:spPr>
          <a:xfrm>
            <a:off x="3673948" y="396239"/>
            <a:ext cx="3967112" cy="523220"/>
          </a:xfrm>
          <a:prstGeom prst="rect">
            <a:avLst/>
          </a:prstGeom>
          <a:noFill/>
        </p:spPr>
        <p:txBody>
          <a:bodyPr wrap="none" rtlCol="0">
            <a:spAutoFit/>
          </a:bodyPr>
          <a:lstStyle/>
          <a:p>
            <a:pPr marL="285750" indent="-285750">
              <a:buFont typeface="Wingdings" panose="05000000000000000000" pitchFamily="2" charset="2"/>
              <a:buChar char="v"/>
            </a:pPr>
            <a:r>
              <a:rPr lang="en-US" sz="2800" b="1" i="1" dirty="0"/>
              <a:t>Admin &amp; Staff Features</a:t>
            </a:r>
          </a:p>
        </p:txBody>
      </p:sp>
      <p:sp>
        <p:nvSpPr>
          <p:cNvPr id="3" name="TextBox 2">
            <a:extLst>
              <a:ext uri="{FF2B5EF4-FFF2-40B4-BE49-F238E27FC236}">
                <a16:creationId xmlns:a16="http://schemas.microsoft.com/office/drawing/2014/main" id="{2385AA34-DAEF-817A-5E23-C9A48300A560}"/>
              </a:ext>
            </a:extLst>
          </p:cNvPr>
          <p:cNvSpPr txBox="1"/>
          <p:nvPr/>
        </p:nvSpPr>
        <p:spPr>
          <a:xfrm>
            <a:off x="1393769" y="1092102"/>
            <a:ext cx="9960031" cy="5262979"/>
          </a:xfrm>
          <a:prstGeom prst="rect">
            <a:avLst/>
          </a:prstGeom>
          <a:noFill/>
        </p:spPr>
        <p:txBody>
          <a:bodyPr wrap="square" rtlCol="0">
            <a:spAutoFit/>
          </a:bodyPr>
          <a:lstStyle/>
          <a:p>
            <a:pPr marL="285750" lvl="0" indent="-285750">
              <a:buFont typeface="Wingdings" panose="05000000000000000000" pitchFamily="2" charset="2"/>
              <a:buChar char="Ø"/>
            </a:pPr>
            <a:r>
              <a:rPr lang="en-US" sz="2400" b="1" dirty="0"/>
              <a:t>Admin Panel:</a:t>
            </a:r>
            <a:r>
              <a:rPr lang="en-US" sz="2400" dirty="0"/>
              <a:t> To be the one and only control center for all administrative tasks.</a:t>
            </a:r>
          </a:p>
          <a:p>
            <a:pPr marL="285750" indent="-285750">
              <a:buFont typeface="Wingdings" panose="05000000000000000000" pitchFamily="2" charset="2"/>
              <a:buChar char="Ø"/>
            </a:pPr>
            <a:endParaRPr lang="en-US" sz="2400" dirty="0"/>
          </a:p>
          <a:p>
            <a:pPr marL="285750" lvl="0" indent="-285750">
              <a:buFont typeface="Wingdings" panose="05000000000000000000" pitchFamily="2" charset="2"/>
              <a:buChar char="Ø"/>
            </a:pPr>
            <a:r>
              <a:rPr lang="en-US" sz="2400" b="1" dirty="0"/>
              <a:t>WYSIWYG Editor:</a:t>
            </a:r>
            <a:r>
              <a:rPr lang="en-US" sz="2400" dirty="0"/>
              <a:t> for Content Creation: To allow admins and staff to write and format news articles and pages easily, without needing to know any code.</a:t>
            </a:r>
          </a:p>
          <a:p>
            <a:r>
              <a:rPr lang="en-US" sz="2400" dirty="0"/>
              <a:t> </a:t>
            </a:r>
          </a:p>
          <a:p>
            <a:pPr marL="285750" lvl="0" indent="-285750">
              <a:buFont typeface="Wingdings" panose="05000000000000000000" pitchFamily="2" charset="2"/>
              <a:buChar char="Ø"/>
            </a:pPr>
            <a:r>
              <a:rPr lang="en-US" sz="2400" b="1" dirty="0"/>
              <a:t>Internal Messaging System (Admin &amp; Staff Only):</a:t>
            </a:r>
            <a:r>
              <a:rPr lang="en-US" sz="2400" dirty="0"/>
              <a:t> To provide a private channel for the website team to communicate and coordinate. Regular users cannot see or access these messages.</a:t>
            </a:r>
          </a:p>
          <a:p>
            <a:r>
              <a:rPr lang="en-US" sz="2400" dirty="0"/>
              <a:t> </a:t>
            </a:r>
          </a:p>
          <a:p>
            <a:pPr marL="285750" lvl="0" indent="-285750">
              <a:buFont typeface="Wingdings" panose="05000000000000000000" pitchFamily="2" charset="2"/>
              <a:buChar char="Ø"/>
            </a:pPr>
            <a:r>
              <a:rPr lang="en-US" sz="2400" b="1" dirty="0"/>
              <a:t>Comprehensive Statistics &amp; Reporting:</a:t>
            </a:r>
            <a:r>
              <a:rPr lang="en-US" sz="2400" dirty="0"/>
              <a:t> To make informed decisions by understanding how the website is performing.</a:t>
            </a:r>
          </a:p>
          <a:p>
            <a:r>
              <a:rPr lang="en-US" sz="2400" dirty="0"/>
              <a:t> </a:t>
            </a:r>
          </a:p>
        </p:txBody>
      </p:sp>
    </p:spTree>
    <p:extLst>
      <p:ext uri="{BB962C8B-B14F-4D97-AF65-F5344CB8AC3E}">
        <p14:creationId xmlns:p14="http://schemas.microsoft.com/office/powerpoint/2010/main" val="6349875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3383B9-C6BF-EE84-3E52-A188AAA32C71}"/>
              </a:ext>
            </a:extLst>
          </p:cNvPr>
          <p:cNvSpPr txBox="1"/>
          <p:nvPr/>
        </p:nvSpPr>
        <p:spPr>
          <a:xfrm>
            <a:off x="4493510" y="213360"/>
            <a:ext cx="3204980" cy="707886"/>
          </a:xfrm>
          <a:prstGeom prst="rect">
            <a:avLst/>
          </a:prstGeom>
          <a:noFill/>
        </p:spPr>
        <p:txBody>
          <a:bodyPr wrap="none" rtlCol="0">
            <a:spAutoFit/>
          </a:bodyPr>
          <a:lstStyle/>
          <a:p>
            <a:r>
              <a:rPr lang="en-US" sz="4000" b="1" dirty="0"/>
              <a:t>Project Profile</a:t>
            </a:r>
          </a:p>
        </p:txBody>
      </p:sp>
      <p:sp>
        <p:nvSpPr>
          <p:cNvPr id="3" name="TextBox 2">
            <a:extLst>
              <a:ext uri="{FF2B5EF4-FFF2-40B4-BE49-F238E27FC236}">
                <a16:creationId xmlns:a16="http://schemas.microsoft.com/office/drawing/2014/main" id="{C3BF9F82-821D-7AAE-80A1-E56B2348E9D2}"/>
              </a:ext>
            </a:extLst>
          </p:cNvPr>
          <p:cNvSpPr txBox="1"/>
          <p:nvPr/>
        </p:nvSpPr>
        <p:spPr>
          <a:xfrm>
            <a:off x="670560" y="1320800"/>
            <a:ext cx="2725170" cy="707886"/>
          </a:xfrm>
          <a:prstGeom prst="rect">
            <a:avLst/>
          </a:prstGeom>
          <a:noFill/>
        </p:spPr>
        <p:txBody>
          <a:bodyPr wrap="none" rtlCol="0">
            <a:spAutoFit/>
          </a:bodyPr>
          <a:lstStyle/>
          <a:p>
            <a:r>
              <a:rPr lang="en-US" sz="2000" b="1" dirty="0"/>
              <a:t>Project Title: </a:t>
            </a:r>
            <a:r>
              <a:rPr lang="en-US" sz="2000" dirty="0"/>
              <a:t>News24x7 </a:t>
            </a:r>
          </a:p>
          <a:p>
            <a:r>
              <a:rPr lang="en-US" sz="2000" dirty="0"/>
              <a:t> </a:t>
            </a:r>
          </a:p>
        </p:txBody>
      </p:sp>
      <p:sp>
        <p:nvSpPr>
          <p:cNvPr id="4" name="TextBox 3">
            <a:extLst>
              <a:ext uri="{FF2B5EF4-FFF2-40B4-BE49-F238E27FC236}">
                <a16:creationId xmlns:a16="http://schemas.microsoft.com/office/drawing/2014/main" id="{97CFB48A-235B-AC6E-52CE-D7EE7CE0D2FB}"/>
              </a:ext>
            </a:extLst>
          </p:cNvPr>
          <p:cNvSpPr txBox="1"/>
          <p:nvPr/>
        </p:nvSpPr>
        <p:spPr>
          <a:xfrm>
            <a:off x="1229163" y="1840108"/>
            <a:ext cx="2904000"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 Technology Used: </a:t>
            </a:r>
            <a:endParaRPr lang="en-US" sz="2400" dirty="0"/>
          </a:p>
        </p:txBody>
      </p:sp>
      <p:sp>
        <p:nvSpPr>
          <p:cNvPr id="5" name="TextBox 4">
            <a:extLst>
              <a:ext uri="{FF2B5EF4-FFF2-40B4-BE49-F238E27FC236}">
                <a16:creationId xmlns:a16="http://schemas.microsoft.com/office/drawing/2014/main" id="{C3BC987A-8A68-4A65-8256-2F35063C5A85}"/>
              </a:ext>
            </a:extLst>
          </p:cNvPr>
          <p:cNvSpPr txBox="1"/>
          <p:nvPr/>
        </p:nvSpPr>
        <p:spPr>
          <a:xfrm>
            <a:off x="2270882" y="2211736"/>
            <a:ext cx="1347613" cy="461665"/>
          </a:xfrm>
          <a:prstGeom prst="rect">
            <a:avLst/>
          </a:prstGeom>
          <a:noFill/>
        </p:spPr>
        <p:txBody>
          <a:bodyPr wrap="none" rtlCol="0">
            <a:spAutoFit/>
          </a:bodyPr>
          <a:lstStyle/>
          <a:p>
            <a:r>
              <a:rPr lang="en-US" sz="2400" b="1" dirty="0"/>
              <a:t>Frontend</a:t>
            </a:r>
            <a:endParaRPr lang="en-US" sz="2400" dirty="0"/>
          </a:p>
        </p:txBody>
      </p:sp>
      <p:sp>
        <p:nvSpPr>
          <p:cNvPr id="6" name="TextBox 5">
            <a:extLst>
              <a:ext uri="{FF2B5EF4-FFF2-40B4-BE49-F238E27FC236}">
                <a16:creationId xmlns:a16="http://schemas.microsoft.com/office/drawing/2014/main" id="{1266F197-B027-488B-6182-E3951E50115A}"/>
              </a:ext>
            </a:extLst>
          </p:cNvPr>
          <p:cNvSpPr txBox="1"/>
          <p:nvPr/>
        </p:nvSpPr>
        <p:spPr>
          <a:xfrm>
            <a:off x="7858386" y="1028412"/>
            <a:ext cx="3663054" cy="646331"/>
          </a:xfrm>
          <a:prstGeom prst="rect">
            <a:avLst/>
          </a:prstGeom>
          <a:noFill/>
        </p:spPr>
        <p:txBody>
          <a:bodyPr wrap="none" rtlCol="0">
            <a:spAutoFit/>
          </a:bodyPr>
          <a:lstStyle/>
          <a:p>
            <a:r>
              <a:rPr lang="en-US" b="1" dirty="0"/>
              <a:t>Project Type:</a:t>
            </a:r>
            <a:r>
              <a:rPr lang="en-US" dirty="0"/>
              <a:t> Web-based Application</a:t>
            </a:r>
          </a:p>
          <a:p>
            <a:endParaRPr lang="en-US" dirty="0"/>
          </a:p>
        </p:txBody>
      </p:sp>
      <p:sp>
        <p:nvSpPr>
          <p:cNvPr id="7" name="TextBox 6">
            <a:extLst>
              <a:ext uri="{FF2B5EF4-FFF2-40B4-BE49-F238E27FC236}">
                <a16:creationId xmlns:a16="http://schemas.microsoft.com/office/drawing/2014/main" id="{CB8AA425-9B8D-CF16-6F70-08EBE4138D8D}"/>
              </a:ext>
            </a:extLst>
          </p:cNvPr>
          <p:cNvSpPr txBox="1"/>
          <p:nvPr/>
        </p:nvSpPr>
        <p:spPr>
          <a:xfrm>
            <a:off x="2944688" y="2673401"/>
            <a:ext cx="1548822" cy="2554545"/>
          </a:xfrm>
          <a:prstGeom prst="rect">
            <a:avLst/>
          </a:prstGeom>
          <a:noFill/>
        </p:spPr>
        <p:txBody>
          <a:bodyPr wrap="none" rtlCol="0">
            <a:spAutoFit/>
          </a:bodyPr>
          <a:lstStyle/>
          <a:p>
            <a:pPr marL="285750" lvl="0" indent="-285750">
              <a:buFont typeface="Wingdings" panose="05000000000000000000" pitchFamily="2" charset="2"/>
              <a:buChar char="Ø"/>
            </a:pPr>
            <a:r>
              <a:rPr lang="en-US" sz="2000" dirty="0"/>
              <a:t>HTML</a:t>
            </a:r>
          </a:p>
          <a:p>
            <a:pPr marL="285750" lvl="0" indent="-285750">
              <a:buFont typeface="Wingdings" panose="05000000000000000000" pitchFamily="2" charset="2"/>
              <a:buChar char="Ø"/>
            </a:pPr>
            <a:r>
              <a:rPr lang="en-US" sz="2000" dirty="0"/>
              <a:t>CSS</a:t>
            </a:r>
          </a:p>
          <a:p>
            <a:pPr marL="285750" lvl="0" indent="-285750">
              <a:buFont typeface="Wingdings" panose="05000000000000000000" pitchFamily="2" charset="2"/>
              <a:buChar char="Ø"/>
            </a:pPr>
            <a:r>
              <a:rPr lang="en-US" sz="2000" dirty="0"/>
              <a:t>JavaScript</a:t>
            </a:r>
          </a:p>
          <a:p>
            <a:pPr marL="285750" lvl="0" indent="-285750">
              <a:buFont typeface="Wingdings" panose="05000000000000000000" pitchFamily="2" charset="2"/>
              <a:buChar char="Ø"/>
            </a:pPr>
            <a:r>
              <a:rPr lang="en-US" sz="2000" dirty="0"/>
              <a:t>Bootstrap</a:t>
            </a:r>
          </a:p>
          <a:p>
            <a:pPr marL="285750" lvl="0" indent="-285750">
              <a:buFont typeface="Wingdings" panose="05000000000000000000" pitchFamily="2" charset="2"/>
              <a:buChar char="Ø"/>
            </a:pPr>
            <a:r>
              <a:rPr lang="en-US" sz="2000" dirty="0"/>
              <a:t>jQuery </a:t>
            </a:r>
          </a:p>
          <a:p>
            <a:pPr marL="285750" lvl="0" indent="-285750">
              <a:buFont typeface="Wingdings" panose="05000000000000000000" pitchFamily="2" charset="2"/>
              <a:buChar char="Ø"/>
            </a:pPr>
            <a:r>
              <a:rPr lang="en-US" sz="2000" dirty="0"/>
              <a:t>slick slider</a:t>
            </a:r>
          </a:p>
          <a:p>
            <a:pPr marL="285750" lvl="0" indent="-285750">
              <a:buFont typeface="Wingdings" panose="05000000000000000000" pitchFamily="2" charset="2"/>
              <a:buChar char="Ø"/>
            </a:pPr>
            <a:r>
              <a:rPr lang="en-US" sz="2000" dirty="0"/>
              <a:t>Fancy box</a:t>
            </a:r>
          </a:p>
          <a:p>
            <a:pPr marL="285750" lvl="0" indent="-285750">
              <a:buFont typeface="Wingdings" panose="05000000000000000000" pitchFamily="2" charset="2"/>
              <a:buChar char="Ø"/>
            </a:pPr>
            <a:r>
              <a:rPr lang="en-US" sz="2000" dirty="0"/>
              <a:t>chart JS </a:t>
            </a:r>
          </a:p>
        </p:txBody>
      </p:sp>
      <p:sp>
        <p:nvSpPr>
          <p:cNvPr id="9" name="TextBox 8">
            <a:extLst>
              <a:ext uri="{FF2B5EF4-FFF2-40B4-BE49-F238E27FC236}">
                <a16:creationId xmlns:a16="http://schemas.microsoft.com/office/drawing/2014/main" id="{9D61A122-7409-BF09-4315-386A083EC5DA}"/>
              </a:ext>
            </a:extLst>
          </p:cNvPr>
          <p:cNvSpPr txBox="1"/>
          <p:nvPr/>
        </p:nvSpPr>
        <p:spPr>
          <a:xfrm>
            <a:off x="6783654" y="1840108"/>
            <a:ext cx="2819041"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 Technology Used </a:t>
            </a:r>
            <a:endParaRPr lang="en-US" sz="2400" dirty="0"/>
          </a:p>
        </p:txBody>
      </p:sp>
      <p:sp>
        <p:nvSpPr>
          <p:cNvPr id="10" name="TextBox 9">
            <a:extLst>
              <a:ext uri="{FF2B5EF4-FFF2-40B4-BE49-F238E27FC236}">
                <a16:creationId xmlns:a16="http://schemas.microsoft.com/office/drawing/2014/main" id="{F85B77A9-C074-6CFF-FC27-384A6D834098}"/>
              </a:ext>
            </a:extLst>
          </p:cNvPr>
          <p:cNvSpPr txBox="1"/>
          <p:nvPr/>
        </p:nvSpPr>
        <p:spPr>
          <a:xfrm>
            <a:off x="7263508" y="2263470"/>
            <a:ext cx="1235851" cy="461665"/>
          </a:xfrm>
          <a:prstGeom prst="rect">
            <a:avLst/>
          </a:prstGeom>
          <a:noFill/>
        </p:spPr>
        <p:txBody>
          <a:bodyPr wrap="none" rtlCol="0">
            <a:spAutoFit/>
          </a:bodyPr>
          <a:lstStyle/>
          <a:p>
            <a:r>
              <a:rPr lang="en-US" sz="2400" dirty="0"/>
              <a:t> </a:t>
            </a:r>
            <a:r>
              <a:rPr lang="en-US" sz="2400" b="1" dirty="0"/>
              <a:t>Backen</a:t>
            </a:r>
            <a:r>
              <a:rPr lang="en-US" sz="2400" dirty="0"/>
              <a:t> </a:t>
            </a:r>
          </a:p>
        </p:txBody>
      </p:sp>
      <p:sp>
        <p:nvSpPr>
          <p:cNvPr id="11" name="TextBox 10">
            <a:extLst>
              <a:ext uri="{FF2B5EF4-FFF2-40B4-BE49-F238E27FC236}">
                <a16:creationId xmlns:a16="http://schemas.microsoft.com/office/drawing/2014/main" id="{FE63DA4E-B686-DFB8-2026-3DF29098A0D8}"/>
              </a:ext>
            </a:extLst>
          </p:cNvPr>
          <p:cNvSpPr txBox="1"/>
          <p:nvPr/>
        </p:nvSpPr>
        <p:spPr>
          <a:xfrm>
            <a:off x="7858386" y="2725135"/>
            <a:ext cx="3089179" cy="1938992"/>
          </a:xfrm>
          <a:prstGeom prst="rect">
            <a:avLst/>
          </a:prstGeom>
          <a:noFill/>
        </p:spPr>
        <p:txBody>
          <a:bodyPr wrap="none" rtlCol="0">
            <a:spAutoFit/>
          </a:bodyPr>
          <a:lstStyle/>
          <a:p>
            <a:pPr marL="285750" lvl="0" indent="-285750">
              <a:buFont typeface="Wingdings" panose="05000000000000000000" pitchFamily="2" charset="2"/>
              <a:buChar char="Ø"/>
            </a:pPr>
            <a:r>
              <a:rPr lang="en-US" sz="2000" dirty="0"/>
              <a:t>Python</a:t>
            </a:r>
          </a:p>
          <a:p>
            <a:pPr marL="285750" lvl="0" indent="-285750">
              <a:buFont typeface="Wingdings" panose="05000000000000000000" pitchFamily="2" charset="2"/>
              <a:buChar char="Ø"/>
            </a:pPr>
            <a:r>
              <a:rPr lang="en-US" sz="2000" dirty="0"/>
              <a:t>Django,</a:t>
            </a:r>
          </a:p>
          <a:p>
            <a:pPr marL="285750" lvl="0" indent="-285750">
              <a:buFont typeface="Wingdings" panose="05000000000000000000" pitchFamily="2" charset="2"/>
              <a:buChar char="Ø"/>
            </a:pPr>
            <a:r>
              <a:rPr lang="en-US" sz="2000" dirty="0"/>
              <a:t>Django REST framework</a:t>
            </a:r>
          </a:p>
          <a:p>
            <a:pPr marL="285750" lvl="0" indent="-285750">
              <a:buFont typeface="Wingdings" panose="05000000000000000000" pitchFamily="2" charset="2"/>
              <a:buChar char="Ø"/>
            </a:pPr>
            <a:r>
              <a:rPr lang="en-US" sz="2000" dirty="0"/>
              <a:t>python weather</a:t>
            </a:r>
          </a:p>
          <a:p>
            <a:pPr marL="285750" lvl="0" indent="-285750">
              <a:buFont typeface="Wingdings" panose="05000000000000000000" pitchFamily="2" charset="2"/>
              <a:buChar char="Ø"/>
            </a:pPr>
            <a:r>
              <a:rPr lang="en-US" sz="2000" dirty="0"/>
              <a:t>Google trans </a:t>
            </a:r>
          </a:p>
          <a:p>
            <a:pPr marL="285750" lvl="0" indent="-285750">
              <a:buFont typeface="Wingdings" panose="05000000000000000000" pitchFamily="2" charset="2"/>
              <a:buChar char="Ø"/>
            </a:pPr>
            <a:r>
              <a:rPr lang="en-US" sz="2000" dirty="0" err="1"/>
              <a:t>django</a:t>
            </a:r>
            <a:r>
              <a:rPr lang="en-US" sz="2000" dirty="0"/>
              <a:t>-background-tasks</a:t>
            </a:r>
          </a:p>
        </p:txBody>
      </p:sp>
    </p:spTree>
    <p:extLst>
      <p:ext uri="{BB962C8B-B14F-4D97-AF65-F5344CB8AC3E}">
        <p14:creationId xmlns:p14="http://schemas.microsoft.com/office/powerpoint/2010/main" val="238848846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E0A0C6-9DCE-2330-6BBF-53D342209EA0}"/>
              </a:ext>
            </a:extLst>
          </p:cNvPr>
          <p:cNvSpPr txBox="1"/>
          <p:nvPr/>
        </p:nvSpPr>
        <p:spPr>
          <a:xfrm>
            <a:off x="650240" y="817880"/>
            <a:ext cx="5128135" cy="461665"/>
          </a:xfrm>
          <a:prstGeom prst="rect">
            <a:avLst/>
          </a:prstGeom>
          <a:noFill/>
        </p:spPr>
        <p:txBody>
          <a:bodyPr wrap="none" rtlCol="0">
            <a:spAutoFit/>
          </a:bodyPr>
          <a:lstStyle/>
          <a:p>
            <a:r>
              <a:rPr lang="en-US" sz="2400" b="1" dirty="0"/>
              <a:t>Database:</a:t>
            </a:r>
            <a:r>
              <a:rPr lang="en-US" sz="2400" dirty="0"/>
              <a:t> MySQL team members roles </a:t>
            </a:r>
          </a:p>
        </p:txBody>
      </p:sp>
      <p:sp>
        <p:nvSpPr>
          <p:cNvPr id="3" name="TextBox 2">
            <a:extLst>
              <a:ext uri="{FF2B5EF4-FFF2-40B4-BE49-F238E27FC236}">
                <a16:creationId xmlns:a16="http://schemas.microsoft.com/office/drawing/2014/main" id="{F6C31E75-E5FB-4742-628D-DABD8FB68FE7}"/>
              </a:ext>
            </a:extLst>
          </p:cNvPr>
          <p:cNvSpPr txBox="1"/>
          <p:nvPr/>
        </p:nvSpPr>
        <p:spPr>
          <a:xfrm>
            <a:off x="650240" y="1986281"/>
            <a:ext cx="11287760" cy="3416320"/>
          </a:xfrm>
          <a:prstGeom prst="rect">
            <a:avLst/>
          </a:prstGeom>
          <a:noFill/>
        </p:spPr>
        <p:txBody>
          <a:bodyPr wrap="square" rtlCol="0">
            <a:spAutoFit/>
          </a:bodyPr>
          <a:lstStyle/>
          <a:p>
            <a:r>
              <a:rPr lang="en-US" sz="2400" dirty="0"/>
              <a:t>The project </a:t>
            </a:r>
            <a:r>
              <a:rPr lang="en-US" sz="2400" b="1" dirty="0"/>
              <a:t>“News24x4”</a:t>
            </a:r>
            <a:r>
              <a:rPr lang="en-US" sz="2400" dirty="0"/>
              <a:t> is an online news portal designed to deliver real time news and information to users in a simple, effective, and interactive way. It enables readers to explore news articles across various categories such as politics, sports, entertainment, technology, and world news.</a:t>
            </a:r>
          </a:p>
          <a:p>
            <a:r>
              <a:rPr lang="en-US" sz="2400" dirty="0"/>
              <a:t> </a:t>
            </a:r>
          </a:p>
          <a:p>
            <a:r>
              <a:rPr lang="en-US" sz="2400" dirty="0"/>
              <a:t> The system provides features such as bookmarking articles, following updates, and adding comments, which enhance user engagement. Admins can easily upload, edit, and manage content, ensuring the website remains dynamic and up to date.</a:t>
            </a:r>
          </a:p>
          <a:p>
            <a:endParaRPr lang="en-US" sz="2400" dirty="0"/>
          </a:p>
        </p:txBody>
      </p:sp>
    </p:spTree>
    <p:extLst>
      <p:ext uri="{BB962C8B-B14F-4D97-AF65-F5344CB8AC3E}">
        <p14:creationId xmlns:p14="http://schemas.microsoft.com/office/powerpoint/2010/main" val="426410478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CE30F1-C049-6CA0-8799-22D1B97679D6}"/>
              </a:ext>
            </a:extLst>
          </p:cNvPr>
          <p:cNvSpPr txBox="1"/>
          <p:nvPr/>
        </p:nvSpPr>
        <p:spPr>
          <a:xfrm>
            <a:off x="4114800" y="492760"/>
            <a:ext cx="4495800" cy="523220"/>
          </a:xfrm>
          <a:prstGeom prst="rect">
            <a:avLst/>
          </a:prstGeom>
          <a:noFill/>
        </p:spPr>
        <p:txBody>
          <a:bodyPr wrap="square" rtlCol="0">
            <a:spAutoFit/>
          </a:bodyPr>
          <a:lstStyle/>
          <a:p>
            <a:pPr marL="285750" indent="-285750">
              <a:buFont typeface="Wingdings" panose="05000000000000000000" pitchFamily="2" charset="2"/>
              <a:buChar char="v"/>
            </a:pPr>
            <a:r>
              <a:rPr lang="en-US" sz="2800" b="1" dirty="0"/>
              <a:t>Objectives of the Project: </a:t>
            </a:r>
            <a:endParaRPr lang="en-US" sz="2800" dirty="0"/>
          </a:p>
        </p:txBody>
      </p:sp>
      <p:sp>
        <p:nvSpPr>
          <p:cNvPr id="3" name="TextBox 2">
            <a:extLst>
              <a:ext uri="{FF2B5EF4-FFF2-40B4-BE49-F238E27FC236}">
                <a16:creationId xmlns:a16="http://schemas.microsoft.com/office/drawing/2014/main" id="{BD30532F-2F47-A49C-1FBC-2956CD73AB75}"/>
              </a:ext>
            </a:extLst>
          </p:cNvPr>
          <p:cNvSpPr txBox="1"/>
          <p:nvPr/>
        </p:nvSpPr>
        <p:spPr>
          <a:xfrm>
            <a:off x="1242060" y="1391920"/>
            <a:ext cx="10241280" cy="3785652"/>
          </a:xfrm>
          <a:prstGeom prst="rect">
            <a:avLst/>
          </a:prstGeom>
          <a:noFill/>
        </p:spPr>
        <p:txBody>
          <a:bodyPr wrap="square" rtlCol="0">
            <a:spAutoFit/>
          </a:bodyPr>
          <a:lstStyle/>
          <a:p>
            <a:pPr marL="342900" lvl="0" indent="-342900">
              <a:buFont typeface="Wingdings" panose="05000000000000000000" pitchFamily="2" charset="2"/>
              <a:buChar char="Ø"/>
            </a:pPr>
            <a:r>
              <a:rPr lang="en-US" sz="2400" dirty="0"/>
              <a:t>To design a reliable and user-friendly online news platform.</a:t>
            </a:r>
          </a:p>
          <a:p>
            <a:pPr marL="342900" indent="-342900">
              <a:buFont typeface="Wingdings" panose="05000000000000000000" pitchFamily="2" charset="2"/>
              <a:buChar char="Ø"/>
            </a:pPr>
            <a:endParaRPr lang="en-US" sz="2400" dirty="0"/>
          </a:p>
          <a:p>
            <a:pPr marL="342900" lvl="0" indent="-342900">
              <a:buFont typeface="Wingdings" panose="05000000000000000000" pitchFamily="2" charset="2"/>
              <a:buChar char="Ø"/>
            </a:pPr>
            <a:r>
              <a:rPr lang="en-US" sz="2400" dirty="0"/>
              <a:t>To allow users to access news articles anytime, anywhere.</a:t>
            </a:r>
          </a:p>
          <a:p>
            <a:r>
              <a:rPr lang="en-US" sz="2400" dirty="0"/>
              <a:t> </a:t>
            </a:r>
          </a:p>
          <a:p>
            <a:pPr marL="342900" lvl="0" indent="-342900">
              <a:buFont typeface="Wingdings" panose="05000000000000000000" pitchFamily="2" charset="2"/>
              <a:buChar char="Ø"/>
            </a:pPr>
            <a:r>
              <a:rPr lang="en-US" sz="2400" dirty="0"/>
              <a:t>To implement interactive features like bookmarking, commenting, and following.</a:t>
            </a:r>
          </a:p>
          <a:p>
            <a:r>
              <a:rPr lang="en-US" sz="2400" dirty="0"/>
              <a:t> </a:t>
            </a:r>
          </a:p>
          <a:p>
            <a:pPr marL="342900" lvl="0" indent="-342900">
              <a:buFont typeface="Wingdings" panose="05000000000000000000" pitchFamily="2" charset="2"/>
              <a:buChar char="Ø"/>
            </a:pPr>
            <a:r>
              <a:rPr lang="en-US" sz="2400" dirty="0"/>
              <a:t>To ensure secure user authentication and data management.</a:t>
            </a:r>
          </a:p>
          <a:p>
            <a:r>
              <a:rPr lang="en-US" sz="2400" dirty="0"/>
              <a:t> </a:t>
            </a:r>
          </a:p>
          <a:p>
            <a:pPr marL="342900" lvl="0" indent="-342900">
              <a:buFont typeface="Wingdings" panose="05000000000000000000" pitchFamily="2" charset="2"/>
              <a:buChar char="Ø"/>
            </a:pPr>
            <a:r>
              <a:rPr lang="en-US" sz="2400" dirty="0"/>
              <a:t>To provide an efficient backend system for managing content dynamically.</a:t>
            </a:r>
          </a:p>
        </p:txBody>
      </p:sp>
    </p:spTree>
    <p:extLst>
      <p:ext uri="{BB962C8B-B14F-4D97-AF65-F5344CB8AC3E}">
        <p14:creationId xmlns:p14="http://schemas.microsoft.com/office/powerpoint/2010/main" val="321128005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41692C-53E1-64A6-8078-DEDB1212D9D7}"/>
              </a:ext>
            </a:extLst>
          </p:cNvPr>
          <p:cNvSpPr txBox="1"/>
          <p:nvPr/>
        </p:nvSpPr>
        <p:spPr>
          <a:xfrm>
            <a:off x="3978045" y="573475"/>
            <a:ext cx="3676327" cy="523220"/>
          </a:xfrm>
          <a:prstGeom prst="rect">
            <a:avLst/>
          </a:prstGeom>
          <a:noFill/>
        </p:spPr>
        <p:txBody>
          <a:bodyPr wrap="none" rtlCol="0">
            <a:spAutoFit/>
          </a:bodyPr>
          <a:lstStyle/>
          <a:p>
            <a:pPr marL="285750" indent="-285750">
              <a:buFont typeface="Wingdings" panose="05000000000000000000" pitchFamily="2" charset="2"/>
              <a:buChar char="v"/>
            </a:pPr>
            <a:r>
              <a:rPr lang="en-US" sz="2800" b="1" dirty="0"/>
              <a:t>Scope of the Project: </a:t>
            </a:r>
            <a:endParaRPr lang="en-US" sz="2800" dirty="0"/>
          </a:p>
        </p:txBody>
      </p:sp>
      <p:sp>
        <p:nvSpPr>
          <p:cNvPr id="3" name="TextBox 2">
            <a:extLst>
              <a:ext uri="{FF2B5EF4-FFF2-40B4-BE49-F238E27FC236}">
                <a16:creationId xmlns:a16="http://schemas.microsoft.com/office/drawing/2014/main" id="{0AF3E914-45B6-30C6-3364-BF6A9A70FA24}"/>
              </a:ext>
            </a:extLst>
          </p:cNvPr>
          <p:cNvSpPr txBox="1"/>
          <p:nvPr/>
        </p:nvSpPr>
        <p:spPr>
          <a:xfrm>
            <a:off x="1412240" y="1498600"/>
            <a:ext cx="8807938" cy="4524315"/>
          </a:xfrm>
          <a:prstGeom prst="rect">
            <a:avLst/>
          </a:prstGeom>
          <a:noFill/>
        </p:spPr>
        <p:txBody>
          <a:bodyPr wrap="square" rtlCol="0">
            <a:spAutoFit/>
          </a:bodyPr>
          <a:lstStyle/>
          <a:p>
            <a:r>
              <a:rPr lang="en-US" sz="2400" dirty="0"/>
              <a:t>The project has been developed for educational purposes, but it can be expanded into a fully functional commercial news portal. With additional features like live notifications, multimedia content, and AI-driven recommendations, the platform can cater to a large user base in the future.</a:t>
            </a:r>
          </a:p>
          <a:p>
            <a:r>
              <a:rPr lang="en-US" sz="2400" dirty="0"/>
              <a:t> </a:t>
            </a:r>
          </a:p>
          <a:p>
            <a:r>
              <a:rPr lang="en-US" sz="2400" dirty="0"/>
              <a:t> </a:t>
            </a:r>
          </a:p>
          <a:p>
            <a:r>
              <a:rPr lang="en-US" sz="2400" dirty="0"/>
              <a:t>Thus, the “</a:t>
            </a:r>
            <a:r>
              <a:rPr lang="en-US" sz="2400" b="1" dirty="0"/>
              <a:t>News24x4</a:t>
            </a:r>
            <a:r>
              <a:rPr lang="en-US" sz="2400" dirty="0"/>
              <a:t>” project provides both information access and interactivity, combining technology and usability to create an effective news delivery platform.</a:t>
            </a:r>
          </a:p>
          <a:p>
            <a:r>
              <a:rPr lang="en-US" sz="2400" dirty="0"/>
              <a:t> </a:t>
            </a:r>
          </a:p>
          <a:p>
            <a:endParaRPr lang="en-US" sz="2400" dirty="0"/>
          </a:p>
        </p:txBody>
      </p:sp>
    </p:spTree>
    <p:extLst>
      <p:ext uri="{BB962C8B-B14F-4D97-AF65-F5344CB8AC3E}">
        <p14:creationId xmlns:p14="http://schemas.microsoft.com/office/powerpoint/2010/main" val="403994268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585FA-D8BE-C3C1-E22E-7FE56BE402F4}"/>
              </a:ext>
            </a:extLst>
          </p:cNvPr>
          <p:cNvSpPr txBox="1"/>
          <p:nvPr/>
        </p:nvSpPr>
        <p:spPr>
          <a:xfrm>
            <a:off x="4653874" y="350520"/>
            <a:ext cx="3224729" cy="646331"/>
          </a:xfrm>
          <a:prstGeom prst="rect">
            <a:avLst/>
          </a:prstGeom>
          <a:noFill/>
        </p:spPr>
        <p:txBody>
          <a:bodyPr wrap="none" rtlCol="0">
            <a:spAutoFit/>
          </a:bodyPr>
          <a:lstStyle/>
          <a:p>
            <a:r>
              <a:rPr lang="en-US" sz="3600" b="1" dirty="0"/>
              <a:t>System Analysis</a:t>
            </a:r>
            <a:endParaRPr lang="en-US" sz="3600" dirty="0"/>
          </a:p>
        </p:txBody>
      </p:sp>
      <p:sp>
        <p:nvSpPr>
          <p:cNvPr id="3" name="TextBox 2">
            <a:extLst>
              <a:ext uri="{FF2B5EF4-FFF2-40B4-BE49-F238E27FC236}">
                <a16:creationId xmlns:a16="http://schemas.microsoft.com/office/drawing/2014/main" id="{48B81AD7-8542-6064-6BBC-57B86ECE5329}"/>
              </a:ext>
            </a:extLst>
          </p:cNvPr>
          <p:cNvSpPr txBox="1"/>
          <p:nvPr/>
        </p:nvSpPr>
        <p:spPr>
          <a:xfrm>
            <a:off x="932290" y="935295"/>
            <a:ext cx="2679580" cy="461665"/>
          </a:xfrm>
          <a:prstGeom prst="rect">
            <a:avLst/>
          </a:prstGeom>
          <a:noFill/>
        </p:spPr>
        <p:txBody>
          <a:bodyPr wrap="none" rtlCol="0">
            <a:spAutoFit/>
          </a:bodyPr>
          <a:lstStyle/>
          <a:p>
            <a:pPr marL="457200" indent="-457200">
              <a:buFont typeface="Wingdings" panose="05000000000000000000" pitchFamily="2" charset="2"/>
              <a:buChar char="v"/>
            </a:pPr>
            <a:r>
              <a:rPr lang="en-US" sz="2400" b="1" dirty="0"/>
              <a:t>Existing System </a:t>
            </a:r>
            <a:endParaRPr lang="en-US" sz="2400" dirty="0"/>
          </a:p>
        </p:txBody>
      </p:sp>
      <p:sp>
        <p:nvSpPr>
          <p:cNvPr id="4" name="TextBox 3">
            <a:extLst>
              <a:ext uri="{FF2B5EF4-FFF2-40B4-BE49-F238E27FC236}">
                <a16:creationId xmlns:a16="http://schemas.microsoft.com/office/drawing/2014/main" id="{87647113-86D8-DE67-BF68-A2973B208BDF}"/>
              </a:ext>
            </a:extLst>
          </p:cNvPr>
          <p:cNvSpPr txBox="1"/>
          <p:nvPr/>
        </p:nvSpPr>
        <p:spPr>
          <a:xfrm>
            <a:off x="1582335" y="1396960"/>
            <a:ext cx="10026569" cy="1877437"/>
          </a:xfrm>
          <a:prstGeom prst="rect">
            <a:avLst/>
          </a:prstGeom>
          <a:noFill/>
        </p:spPr>
        <p:txBody>
          <a:bodyPr wrap="square" rtlCol="0">
            <a:spAutoFit/>
          </a:bodyPr>
          <a:lstStyle/>
          <a:p>
            <a:r>
              <a:rPr lang="en-US" sz="2400" dirty="0"/>
              <a:t>In the existing news websites or portals, most systems provide static content with limited interactivity. Users can only read the news but have minimal options to engage or customize the content. Many platforms also lack efficient content management and user-friendly navigation.</a:t>
            </a:r>
          </a:p>
          <a:p>
            <a:endParaRPr lang="en-US" sz="2000" dirty="0"/>
          </a:p>
        </p:txBody>
      </p:sp>
      <p:sp>
        <p:nvSpPr>
          <p:cNvPr id="5" name="TextBox 4">
            <a:extLst>
              <a:ext uri="{FF2B5EF4-FFF2-40B4-BE49-F238E27FC236}">
                <a16:creationId xmlns:a16="http://schemas.microsoft.com/office/drawing/2014/main" id="{680045C6-72CD-387A-44B0-D36F7E4A73A6}"/>
              </a:ext>
            </a:extLst>
          </p:cNvPr>
          <p:cNvSpPr txBox="1"/>
          <p:nvPr/>
        </p:nvSpPr>
        <p:spPr>
          <a:xfrm>
            <a:off x="932290" y="3568215"/>
            <a:ext cx="4401718"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Limitations of Existing System:</a:t>
            </a:r>
            <a:endParaRPr lang="en-US" sz="2400" dirty="0"/>
          </a:p>
        </p:txBody>
      </p:sp>
      <p:sp>
        <p:nvSpPr>
          <p:cNvPr id="6" name="TextBox 5">
            <a:extLst>
              <a:ext uri="{FF2B5EF4-FFF2-40B4-BE49-F238E27FC236}">
                <a16:creationId xmlns:a16="http://schemas.microsoft.com/office/drawing/2014/main" id="{F54BC127-5D13-E7B5-AC74-C799E8FD425A}"/>
              </a:ext>
            </a:extLst>
          </p:cNvPr>
          <p:cNvSpPr txBox="1"/>
          <p:nvPr/>
        </p:nvSpPr>
        <p:spPr>
          <a:xfrm>
            <a:off x="1567071" y="4029880"/>
            <a:ext cx="10624929" cy="1938992"/>
          </a:xfrm>
          <a:prstGeom prst="rect">
            <a:avLst/>
          </a:prstGeom>
          <a:noFill/>
        </p:spPr>
        <p:txBody>
          <a:bodyPr wrap="square" rtlCol="0">
            <a:spAutoFit/>
          </a:bodyPr>
          <a:lstStyle/>
          <a:p>
            <a:pPr marL="285750" lvl="0" indent="-285750">
              <a:buFont typeface="Wingdings" panose="05000000000000000000" pitchFamily="2" charset="2"/>
              <a:buChar char="Ø"/>
            </a:pPr>
            <a:r>
              <a:rPr lang="en-US" sz="2400" dirty="0"/>
              <a:t>Content updates are often manual and delayed. </a:t>
            </a:r>
          </a:p>
          <a:p>
            <a:pPr marL="285750" lvl="0" indent="-285750">
              <a:buFont typeface="Wingdings" panose="05000000000000000000" pitchFamily="2" charset="2"/>
              <a:buChar char="Ø"/>
            </a:pPr>
            <a:r>
              <a:rPr lang="en-US" sz="2400" dirty="0"/>
              <a:t>No options for bookmarking or following favorite news categories. </a:t>
            </a:r>
          </a:p>
          <a:p>
            <a:pPr marL="285750" lvl="0" indent="-285750">
              <a:buFont typeface="Wingdings" panose="05000000000000000000" pitchFamily="2" charset="2"/>
              <a:buChar char="Ø"/>
            </a:pPr>
            <a:r>
              <a:rPr lang="en-US" sz="2400" dirty="0"/>
              <a:t>Commenting and interactive features are limited or absent. </a:t>
            </a:r>
          </a:p>
          <a:p>
            <a:pPr marL="285750" lvl="0" indent="-285750">
              <a:buFont typeface="Wingdings" panose="05000000000000000000" pitchFamily="2" charset="2"/>
              <a:buChar char="Ø"/>
            </a:pPr>
            <a:r>
              <a:rPr lang="en-US" sz="2400" dirty="0"/>
              <a:t>Websites may not be fully responsive across devices. </a:t>
            </a:r>
          </a:p>
          <a:p>
            <a:pPr marL="285750" indent="-285750">
              <a:buFont typeface="Wingdings" panose="05000000000000000000" pitchFamily="2" charset="2"/>
              <a:buChar char="Ø"/>
            </a:pPr>
            <a:r>
              <a:rPr lang="en-US" sz="2400" dirty="0"/>
              <a:t>Lack of real-time notifications or alerts</a:t>
            </a:r>
          </a:p>
        </p:txBody>
      </p:sp>
    </p:spTree>
    <p:extLst>
      <p:ext uri="{BB962C8B-B14F-4D97-AF65-F5344CB8AC3E}">
        <p14:creationId xmlns:p14="http://schemas.microsoft.com/office/powerpoint/2010/main" val="369776167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2C78F6-BEB4-4B01-E95C-B474ACD62345}"/>
              </a:ext>
            </a:extLst>
          </p:cNvPr>
          <p:cNvSpPr txBox="1"/>
          <p:nvPr/>
        </p:nvSpPr>
        <p:spPr>
          <a:xfrm>
            <a:off x="745435" y="327991"/>
            <a:ext cx="2722540"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Proposed System</a:t>
            </a:r>
            <a:endParaRPr lang="en-US" sz="2400" dirty="0"/>
          </a:p>
        </p:txBody>
      </p:sp>
      <p:sp>
        <p:nvSpPr>
          <p:cNvPr id="3" name="TextBox 2">
            <a:extLst>
              <a:ext uri="{FF2B5EF4-FFF2-40B4-BE49-F238E27FC236}">
                <a16:creationId xmlns:a16="http://schemas.microsoft.com/office/drawing/2014/main" id="{19A9C7BE-9E46-4D52-46AA-CDC0D8525AA9}"/>
              </a:ext>
            </a:extLst>
          </p:cNvPr>
          <p:cNvSpPr txBox="1"/>
          <p:nvPr/>
        </p:nvSpPr>
        <p:spPr>
          <a:xfrm>
            <a:off x="1392610" y="1120676"/>
            <a:ext cx="10077901" cy="2308324"/>
          </a:xfrm>
          <a:prstGeom prst="rect">
            <a:avLst/>
          </a:prstGeom>
          <a:noFill/>
        </p:spPr>
        <p:txBody>
          <a:bodyPr wrap="square" rtlCol="0">
            <a:spAutoFit/>
          </a:bodyPr>
          <a:lstStyle/>
          <a:p>
            <a:r>
              <a:rPr lang="en-US" sz="2400" dirty="0"/>
              <a:t>The proposed system, “</a:t>
            </a:r>
            <a:r>
              <a:rPr lang="en-US" sz="2400" b="1" i="1" dirty="0"/>
              <a:t>News24x7</a:t>
            </a:r>
            <a:r>
              <a:rPr lang="en-US" sz="2400" dirty="0"/>
              <a:t>”, is a dynamic and interactive news portal that aims to improve user experience and content management. Users can register, bookmark articles, follow topics, and comment on news posts. Administrators can easily manage news content, categories, and user interactions through a secure backend system.</a:t>
            </a:r>
          </a:p>
          <a:p>
            <a:endParaRPr lang="en-US" sz="2400" dirty="0"/>
          </a:p>
        </p:txBody>
      </p:sp>
      <p:sp>
        <p:nvSpPr>
          <p:cNvPr id="4" name="TextBox 3">
            <a:extLst>
              <a:ext uri="{FF2B5EF4-FFF2-40B4-BE49-F238E27FC236}">
                <a16:creationId xmlns:a16="http://schemas.microsoft.com/office/drawing/2014/main" id="{BBA5DF96-71D0-E06B-7543-5D93B860C705}"/>
              </a:ext>
            </a:extLst>
          </p:cNvPr>
          <p:cNvSpPr txBox="1"/>
          <p:nvPr/>
        </p:nvSpPr>
        <p:spPr>
          <a:xfrm>
            <a:off x="745435" y="3298355"/>
            <a:ext cx="4375621"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Features of Proposed System: </a:t>
            </a:r>
            <a:endParaRPr lang="en-US" sz="2400" dirty="0"/>
          </a:p>
        </p:txBody>
      </p:sp>
      <p:sp>
        <p:nvSpPr>
          <p:cNvPr id="5" name="TextBox 4">
            <a:extLst>
              <a:ext uri="{FF2B5EF4-FFF2-40B4-BE49-F238E27FC236}">
                <a16:creationId xmlns:a16="http://schemas.microsoft.com/office/drawing/2014/main" id="{C4FDFC72-0BF1-BD62-9406-5C1AE559A8CA}"/>
              </a:ext>
            </a:extLst>
          </p:cNvPr>
          <p:cNvSpPr txBox="1"/>
          <p:nvPr/>
        </p:nvSpPr>
        <p:spPr>
          <a:xfrm>
            <a:off x="1550266" y="3898652"/>
            <a:ext cx="9272063" cy="1938992"/>
          </a:xfrm>
          <a:prstGeom prst="rect">
            <a:avLst/>
          </a:prstGeom>
          <a:noFill/>
        </p:spPr>
        <p:txBody>
          <a:bodyPr wrap="square" rtlCol="0">
            <a:spAutoFit/>
          </a:bodyPr>
          <a:lstStyle/>
          <a:p>
            <a:pPr marL="285750" lvl="0" indent="-285750">
              <a:buFont typeface="Wingdings" panose="05000000000000000000" pitchFamily="2" charset="2"/>
              <a:buChar char="Ø"/>
            </a:pPr>
            <a:r>
              <a:rPr lang="en-US" sz="2400" dirty="0"/>
              <a:t>Dynamic news content management using Django framework. </a:t>
            </a:r>
          </a:p>
          <a:p>
            <a:pPr marL="285750" lvl="0" indent="-285750">
              <a:buFont typeface="Wingdings" panose="05000000000000000000" pitchFamily="2" charset="2"/>
              <a:buChar char="Ø"/>
            </a:pPr>
            <a:r>
              <a:rPr lang="en-US" sz="2400" dirty="0"/>
              <a:t>User registration and secure login system. </a:t>
            </a:r>
          </a:p>
          <a:p>
            <a:pPr marL="285750" lvl="0" indent="-285750">
              <a:buFont typeface="Wingdings" panose="05000000000000000000" pitchFamily="2" charset="2"/>
              <a:buChar char="Ø"/>
            </a:pPr>
            <a:r>
              <a:rPr lang="en-US" sz="2400" dirty="0"/>
              <a:t>Bookmarking, following, and commenting functionality. </a:t>
            </a:r>
          </a:p>
          <a:p>
            <a:pPr marL="285750" lvl="0" indent="-285750">
              <a:buFont typeface="Wingdings" panose="05000000000000000000" pitchFamily="2" charset="2"/>
              <a:buChar char="Ø"/>
            </a:pPr>
            <a:r>
              <a:rPr lang="en-US" sz="2400" dirty="0"/>
              <a:t>Responsive design for desktop and mobile devices. </a:t>
            </a:r>
          </a:p>
          <a:p>
            <a:pPr marL="285750" lvl="0" indent="-285750">
              <a:buFont typeface="Wingdings" panose="05000000000000000000" pitchFamily="2" charset="2"/>
              <a:buChar char="Ø"/>
            </a:pPr>
            <a:r>
              <a:rPr lang="en-US" sz="2400" dirty="0"/>
              <a:t>Real-time content updates and notifications.</a:t>
            </a:r>
          </a:p>
        </p:txBody>
      </p:sp>
    </p:spTree>
    <p:extLst>
      <p:ext uri="{BB962C8B-B14F-4D97-AF65-F5344CB8AC3E}">
        <p14:creationId xmlns:p14="http://schemas.microsoft.com/office/powerpoint/2010/main" val="76138959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D25D1F-6E2D-1C68-B57A-4F17E55184CD}"/>
              </a:ext>
            </a:extLst>
          </p:cNvPr>
          <p:cNvSpPr txBox="1"/>
          <p:nvPr/>
        </p:nvSpPr>
        <p:spPr>
          <a:xfrm>
            <a:off x="937549" y="636608"/>
            <a:ext cx="4281108"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Hardware Requirements</a:t>
            </a:r>
            <a:endParaRPr lang="en-US" sz="2800" dirty="0"/>
          </a:p>
        </p:txBody>
      </p:sp>
      <p:sp>
        <p:nvSpPr>
          <p:cNvPr id="3" name="TextBox 2">
            <a:extLst>
              <a:ext uri="{FF2B5EF4-FFF2-40B4-BE49-F238E27FC236}">
                <a16:creationId xmlns:a16="http://schemas.microsoft.com/office/drawing/2014/main" id="{DD302C18-D69B-5468-435F-559583793FA7}"/>
              </a:ext>
            </a:extLst>
          </p:cNvPr>
          <p:cNvSpPr txBox="1"/>
          <p:nvPr/>
        </p:nvSpPr>
        <p:spPr>
          <a:xfrm>
            <a:off x="1285176" y="1408510"/>
            <a:ext cx="10175304" cy="4524315"/>
          </a:xfrm>
          <a:prstGeom prst="rect">
            <a:avLst/>
          </a:prstGeom>
          <a:noFill/>
        </p:spPr>
        <p:txBody>
          <a:bodyPr wrap="square" rtlCol="0">
            <a:spAutoFit/>
          </a:bodyPr>
          <a:lstStyle/>
          <a:p>
            <a:pPr marL="285750" lvl="0" indent="-285750">
              <a:buFont typeface="Wingdings" panose="05000000000000000000" pitchFamily="2" charset="2"/>
              <a:buChar char="Ø"/>
            </a:pPr>
            <a:r>
              <a:rPr lang="en-US" sz="2400" b="1" dirty="0"/>
              <a:t>Processor:</a:t>
            </a:r>
            <a:r>
              <a:rPr lang="en-US" sz="2400" dirty="0"/>
              <a:t> A modern dual-core or quad-core processor is generally sufficient.</a:t>
            </a:r>
          </a:p>
          <a:p>
            <a:pPr marL="285750" indent="-285750">
              <a:buFont typeface="Wingdings" panose="05000000000000000000" pitchFamily="2" charset="2"/>
              <a:buChar char="Ø"/>
            </a:pPr>
            <a:endParaRPr lang="en-US" sz="2400" dirty="0"/>
          </a:p>
          <a:p>
            <a:pPr marL="285750" lvl="0" indent="-285750">
              <a:buFont typeface="Wingdings" panose="05000000000000000000" pitchFamily="2" charset="2"/>
              <a:buChar char="Ø"/>
            </a:pPr>
            <a:r>
              <a:rPr lang="en-US" sz="2400" b="1" dirty="0"/>
              <a:t>RAM:</a:t>
            </a:r>
            <a:r>
              <a:rPr lang="en-US" sz="2400" dirty="0"/>
              <a:t> 4GB to 8GB of RAM is typically adequate for a smooth development experience, especially when running a local development server and potentially other tools like a text editor or IDE.</a:t>
            </a:r>
          </a:p>
          <a:p>
            <a:r>
              <a:rPr lang="en-US" sz="2400" dirty="0"/>
              <a:t> </a:t>
            </a:r>
          </a:p>
          <a:p>
            <a:pPr marL="285750" lvl="0" indent="-285750">
              <a:buFont typeface="Wingdings" panose="05000000000000000000" pitchFamily="2" charset="2"/>
              <a:buChar char="Ø"/>
            </a:pPr>
            <a:r>
              <a:rPr lang="en-US" sz="2400" b="1" dirty="0"/>
              <a:t>Storage:</a:t>
            </a:r>
            <a:r>
              <a:rPr lang="en-US" sz="2400" dirty="0"/>
              <a:t> A solid-state drive (SSD) is highly recommended for faster boot times and application loading, even a modest 256GB SSD would be fine.</a:t>
            </a:r>
          </a:p>
          <a:p>
            <a:r>
              <a:rPr lang="en-US" sz="2400" dirty="0"/>
              <a:t> </a:t>
            </a:r>
          </a:p>
          <a:p>
            <a:pPr marL="285750" lvl="0" indent="-285750">
              <a:buFont typeface="Wingdings" panose="05000000000000000000" pitchFamily="2" charset="2"/>
              <a:buChar char="Ø"/>
            </a:pPr>
            <a:r>
              <a:rPr lang="en-US" sz="2400" b="1" dirty="0"/>
              <a:t>Operating System:</a:t>
            </a:r>
            <a:r>
              <a:rPr lang="en-US" sz="2400" dirty="0"/>
              <a:t> Django runs on Windows, macOS, and various Linux distributions.</a:t>
            </a:r>
          </a:p>
          <a:p>
            <a:pPr marL="285750" indent="-285750">
              <a:buFont typeface="Wingdings" panose="05000000000000000000" pitchFamily="2" charset="2"/>
              <a:buChar char="Ø"/>
            </a:pPr>
            <a:endParaRPr lang="en-US" sz="2400" dirty="0"/>
          </a:p>
        </p:txBody>
      </p:sp>
    </p:spTree>
    <p:extLst>
      <p:ext uri="{BB962C8B-B14F-4D97-AF65-F5344CB8AC3E}">
        <p14:creationId xmlns:p14="http://schemas.microsoft.com/office/powerpoint/2010/main" val="8562427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B529B0-B867-1590-087D-CC57F8797A4B}"/>
              </a:ext>
            </a:extLst>
          </p:cNvPr>
          <p:cNvSpPr txBox="1"/>
          <p:nvPr/>
        </p:nvSpPr>
        <p:spPr>
          <a:xfrm>
            <a:off x="2330837" y="2497593"/>
            <a:ext cx="8035677" cy="1569660"/>
          </a:xfrm>
          <a:prstGeom prst="rect">
            <a:avLst/>
          </a:prstGeom>
          <a:noFill/>
        </p:spPr>
        <p:txBody>
          <a:bodyPr wrap="square" rtlCol="0">
            <a:spAutoFit/>
          </a:bodyPr>
          <a:lstStyle/>
          <a:p>
            <a:r>
              <a:rPr lang="en-US" sz="9600" b="1" dirty="0"/>
              <a:t>System Design</a:t>
            </a:r>
            <a:endParaRPr lang="en-US" sz="9600" dirty="0"/>
          </a:p>
        </p:txBody>
      </p:sp>
    </p:spTree>
    <p:extLst>
      <p:ext uri="{BB962C8B-B14F-4D97-AF65-F5344CB8AC3E}">
        <p14:creationId xmlns:p14="http://schemas.microsoft.com/office/powerpoint/2010/main" val="159818590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60320F4-3229-C535-AA45-AEFEF12397AD}"/>
              </a:ext>
            </a:extLst>
          </p:cNvPr>
          <p:cNvSpPr>
            <a:spLocks noChangeArrowheads="1"/>
          </p:cNvSpPr>
          <p:nvPr/>
        </p:nvSpPr>
        <p:spPr bwMode="auto">
          <a:xfrm>
            <a:off x="904240" y="353831"/>
            <a:ext cx="49452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4742" tIns="0" rIns="0" bIns="0" numCol="1" anchor="ctr" anchorCtr="0" compatLnSpc="1">
            <a:prstTxWarp prst="textNoShape">
              <a:avLst/>
            </a:prstTxWarp>
            <a:spAutoFit/>
          </a:bodyPr>
          <a:lstStyle/>
          <a:p>
            <a:pPr marL="857250" marR="0" lvl="0" indent="-8572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6000" b="1" i="1"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Flow Chart</a:t>
            </a:r>
            <a:endParaRPr kumimoji="0" lang="en-US" altLang="en-US" b="1" i="1"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7" descr="Basic flowchart symbols">
            <a:extLst>
              <a:ext uri="{FF2B5EF4-FFF2-40B4-BE49-F238E27FC236}">
                <a16:creationId xmlns:a16="http://schemas.microsoft.com/office/drawing/2014/main" id="{E3AE97F9-B0BE-94E3-A6C6-B841B7393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840" y="1671478"/>
            <a:ext cx="5943600" cy="3856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42064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3BD8A4-4224-55E4-8A1C-F9A16D9CF502}"/>
              </a:ext>
            </a:extLst>
          </p:cNvPr>
          <p:cNvPicPr>
            <a:picLocks noChangeAspect="1"/>
          </p:cNvPicPr>
          <p:nvPr/>
        </p:nvPicPr>
        <p:blipFill>
          <a:blip r:embed="rId2" cstate="print">
            <a:extLst>
              <a:ext uri="{28A0092B-C50C-407E-A947-70E740481C1C}">
                <a14:useLocalDpi xmlns:a14="http://schemas.microsoft.com/office/drawing/2010/main" val="0"/>
              </a:ext>
            </a:extLst>
          </a:blip>
          <a:srcRect t="-2212" b="20652"/>
          <a:stretch>
            <a:fillRect/>
          </a:stretch>
        </p:blipFill>
        <p:spPr bwMode="auto">
          <a:xfrm>
            <a:off x="2636520" y="-518160"/>
            <a:ext cx="5943600" cy="6858000"/>
          </a:xfrm>
          <a:prstGeom prst="rect">
            <a:avLst/>
          </a:prstGeom>
          <a:noFill/>
          <a:ln>
            <a:noFill/>
          </a:ln>
        </p:spPr>
      </p:pic>
    </p:spTree>
    <p:extLst>
      <p:ext uri="{BB962C8B-B14F-4D97-AF65-F5344CB8AC3E}">
        <p14:creationId xmlns:p14="http://schemas.microsoft.com/office/powerpoint/2010/main" val="325039519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AFA6AE-7DBB-F57C-5567-6D3F285835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02723" y="0"/>
            <a:ext cx="5222631" cy="7386451"/>
          </a:xfrm>
          <a:prstGeom prst="rect">
            <a:avLst/>
          </a:prstGeom>
          <a:noFill/>
          <a:ln>
            <a:noFill/>
          </a:ln>
        </p:spPr>
      </p:pic>
    </p:spTree>
    <p:extLst>
      <p:ext uri="{BB962C8B-B14F-4D97-AF65-F5344CB8AC3E}">
        <p14:creationId xmlns:p14="http://schemas.microsoft.com/office/powerpoint/2010/main" val="1577850483"/>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09E8FA-2ECC-51E2-6C81-BBFED9CAEFD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6069" y="-347127"/>
            <a:ext cx="5339862" cy="7552254"/>
          </a:xfrm>
          <a:prstGeom prst="rect">
            <a:avLst/>
          </a:prstGeom>
          <a:noFill/>
          <a:ln>
            <a:noFill/>
          </a:ln>
        </p:spPr>
      </p:pic>
    </p:spTree>
    <p:extLst>
      <p:ext uri="{BB962C8B-B14F-4D97-AF65-F5344CB8AC3E}">
        <p14:creationId xmlns:p14="http://schemas.microsoft.com/office/powerpoint/2010/main" val="55347710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8977BF-05DC-049C-0DB4-F916B2A2871E}"/>
              </a:ext>
            </a:extLst>
          </p:cNvPr>
          <p:cNvPicPr>
            <a:picLocks noChangeAspect="1"/>
          </p:cNvPicPr>
          <p:nvPr/>
        </p:nvPicPr>
        <p:blipFill>
          <a:blip r:embed="rId2" cstate="print">
            <a:extLst>
              <a:ext uri="{28A0092B-C50C-407E-A947-70E740481C1C}">
                <a14:useLocalDpi xmlns:a14="http://schemas.microsoft.com/office/drawing/2010/main" val="0"/>
              </a:ext>
            </a:extLst>
          </a:blip>
          <a:srcRect b="11143"/>
          <a:stretch>
            <a:fillRect/>
          </a:stretch>
        </p:blipFill>
        <p:spPr bwMode="auto">
          <a:xfrm>
            <a:off x="3546231" y="0"/>
            <a:ext cx="5457092" cy="6858000"/>
          </a:xfrm>
          <a:prstGeom prst="rect">
            <a:avLst/>
          </a:prstGeom>
          <a:noFill/>
          <a:ln>
            <a:noFill/>
          </a:ln>
        </p:spPr>
      </p:pic>
    </p:spTree>
    <p:extLst>
      <p:ext uri="{BB962C8B-B14F-4D97-AF65-F5344CB8AC3E}">
        <p14:creationId xmlns:p14="http://schemas.microsoft.com/office/powerpoint/2010/main" val="291685872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3D296E-8D53-E320-A8D2-47BEF0CBBC93}"/>
              </a:ext>
            </a:extLst>
          </p:cNvPr>
          <p:cNvPicPr>
            <a:picLocks noChangeAspect="1"/>
          </p:cNvPicPr>
          <p:nvPr/>
        </p:nvPicPr>
        <p:blipFill>
          <a:blip r:embed="rId2" cstate="print">
            <a:extLst>
              <a:ext uri="{28A0092B-C50C-407E-A947-70E740481C1C}">
                <a14:useLocalDpi xmlns:a14="http://schemas.microsoft.com/office/drawing/2010/main" val="0"/>
              </a:ext>
            </a:extLst>
          </a:blip>
          <a:srcRect b="20923"/>
          <a:stretch>
            <a:fillRect/>
          </a:stretch>
        </p:blipFill>
        <p:spPr bwMode="auto">
          <a:xfrm>
            <a:off x="2819399" y="-540385"/>
            <a:ext cx="7098323" cy="7938770"/>
          </a:xfrm>
          <a:prstGeom prst="rect">
            <a:avLst/>
          </a:prstGeom>
          <a:noFill/>
          <a:ln>
            <a:noFill/>
          </a:ln>
        </p:spPr>
      </p:pic>
    </p:spTree>
    <p:extLst>
      <p:ext uri="{BB962C8B-B14F-4D97-AF65-F5344CB8AC3E}">
        <p14:creationId xmlns:p14="http://schemas.microsoft.com/office/powerpoint/2010/main" val="126353565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8BE6B-62C9-12C8-D271-D527D6BC9FF4}"/>
              </a:ext>
            </a:extLst>
          </p:cNvPr>
          <p:cNvSpPr txBox="1"/>
          <p:nvPr/>
        </p:nvSpPr>
        <p:spPr>
          <a:xfrm>
            <a:off x="4595236" y="436880"/>
            <a:ext cx="3001527" cy="584775"/>
          </a:xfrm>
          <a:prstGeom prst="rect">
            <a:avLst/>
          </a:prstGeom>
          <a:noFill/>
        </p:spPr>
        <p:txBody>
          <a:bodyPr wrap="none" rtlCol="0">
            <a:spAutoFit/>
          </a:bodyPr>
          <a:lstStyle/>
          <a:p>
            <a:pPr marL="457200" indent="-457200">
              <a:buFont typeface="Wingdings" panose="05000000000000000000" pitchFamily="2" charset="2"/>
              <a:buChar char="v"/>
            </a:pPr>
            <a:r>
              <a:rPr lang="en-US" sz="3200" b="1" i="1" dirty="0"/>
              <a:t>E-R DIAGRAM</a:t>
            </a:r>
          </a:p>
        </p:txBody>
      </p:sp>
      <p:pic>
        <p:nvPicPr>
          <p:cNvPr id="3" name="Picture 2">
            <a:extLst>
              <a:ext uri="{FF2B5EF4-FFF2-40B4-BE49-F238E27FC236}">
                <a16:creationId xmlns:a16="http://schemas.microsoft.com/office/drawing/2014/main" id="{E9741EFF-E5CD-3A76-3AA2-EE2CA656C6E0}"/>
              </a:ext>
            </a:extLst>
          </p:cNvPr>
          <p:cNvPicPr>
            <a:picLocks noChangeAspect="1"/>
          </p:cNvPicPr>
          <p:nvPr/>
        </p:nvPicPr>
        <p:blipFill>
          <a:blip r:embed="rId2"/>
          <a:stretch>
            <a:fillRect/>
          </a:stretch>
        </p:blipFill>
        <p:spPr>
          <a:xfrm>
            <a:off x="2477769" y="1443990"/>
            <a:ext cx="8105161" cy="4611370"/>
          </a:xfrm>
          <a:prstGeom prst="rect">
            <a:avLst/>
          </a:prstGeom>
        </p:spPr>
      </p:pic>
    </p:spTree>
    <p:extLst>
      <p:ext uri="{BB962C8B-B14F-4D97-AF65-F5344CB8AC3E}">
        <p14:creationId xmlns:p14="http://schemas.microsoft.com/office/powerpoint/2010/main" val="139266081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5A8408-E01E-4DB1-A8C5-31685FFFC4A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3088" y="99057"/>
            <a:ext cx="3405823" cy="6758943"/>
          </a:xfrm>
          <a:prstGeom prst="rect">
            <a:avLst/>
          </a:prstGeom>
          <a:noFill/>
          <a:ln>
            <a:noFill/>
          </a:ln>
        </p:spPr>
      </p:pic>
    </p:spTree>
    <p:extLst>
      <p:ext uri="{BB962C8B-B14F-4D97-AF65-F5344CB8AC3E}">
        <p14:creationId xmlns:p14="http://schemas.microsoft.com/office/powerpoint/2010/main" val="301791293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E84000-E789-2438-83C0-55FD18FB2A5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28373" y="116168"/>
            <a:ext cx="5209572" cy="6741832"/>
          </a:xfrm>
          <a:prstGeom prst="rect">
            <a:avLst/>
          </a:prstGeom>
          <a:noFill/>
          <a:ln>
            <a:noFill/>
          </a:ln>
        </p:spPr>
      </p:pic>
    </p:spTree>
    <p:extLst>
      <p:ext uri="{BB962C8B-B14F-4D97-AF65-F5344CB8AC3E}">
        <p14:creationId xmlns:p14="http://schemas.microsoft.com/office/powerpoint/2010/main" val="212240016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353F1DD-C7DD-BED5-3C6D-CF799EA1E5B1}"/>
              </a:ext>
            </a:extLst>
          </p:cNvPr>
          <p:cNvSpPr>
            <a:spLocks noChangeArrowheads="1"/>
          </p:cNvSpPr>
          <p:nvPr/>
        </p:nvSpPr>
        <p:spPr bwMode="auto">
          <a:xfrm>
            <a:off x="2731626" y="521157"/>
            <a:ext cx="634465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4742" tIns="0" rIns="0" bIns="0" numCol="1" anchor="ctr" anchorCtr="0" compatLnSpc="1">
            <a:prstTxWarp prst="textNoShape">
              <a:avLst/>
            </a:prstTxWarp>
            <a:spAutoFit/>
          </a:bodyPr>
          <a:lstStyle/>
          <a:p>
            <a:pPr marL="685800" marR="0" lvl="0" indent="-6858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4800" b="1" i="1"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t>Data Flow Diagram</a:t>
            </a:r>
            <a:endParaRPr kumimoji="0" lang="en-US" altLang="en-US" sz="3600" b="1" i="1" strike="noStrike" cap="none" normalizeH="0" baseline="0" dirty="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endParaRPr>
          </a:p>
        </p:txBody>
      </p:sp>
      <p:pic>
        <p:nvPicPr>
          <p:cNvPr id="2049" name="Picture 1">
            <a:extLst>
              <a:ext uri="{FF2B5EF4-FFF2-40B4-BE49-F238E27FC236}">
                <a16:creationId xmlns:a16="http://schemas.microsoft.com/office/drawing/2014/main" id="{C07EAEBB-C8F5-2143-BF32-E8A15B210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661" y="1259821"/>
            <a:ext cx="7905509" cy="53735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BB0BEC05-D92B-213F-3A5B-58422F6E5882}"/>
              </a:ext>
            </a:extLst>
          </p:cNvPr>
          <p:cNvSpPr>
            <a:spLocks noChangeArrowheads="1"/>
          </p:cNvSpPr>
          <p:nvPr/>
        </p:nvSpPr>
        <p:spPr bwMode="auto">
          <a:xfrm>
            <a:off x="0" y="45640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latin typeface="Arial" panose="020B0604020202020204" pitchFamily="34" charset="0"/>
                <a:ea typeface="Cambria" panose="02040503050406030204" pitchFamily="18" charset="0"/>
                <a:cs typeface="Cambria" panose="02040503050406030204" pitchFamily="18" charset="0"/>
              </a:rPr>
            </a:b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965831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A19790-42C9-8E05-686F-E4F4FE688447}"/>
              </a:ext>
            </a:extLst>
          </p:cNvPr>
          <p:cNvPicPr>
            <a:picLocks noChangeAspect="1"/>
          </p:cNvPicPr>
          <p:nvPr/>
        </p:nvPicPr>
        <p:blipFill>
          <a:blip r:embed="rId2" cstate="print">
            <a:extLst>
              <a:ext uri="{28A0092B-C50C-407E-A947-70E740481C1C}">
                <a14:useLocalDpi xmlns:a14="http://schemas.microsoft.com/office/drawing/2010/main" val="0"/>
              </a:ext>
            </a:extLst>
          </a:blip>
          <a:srcRect b="49038"/>
          <a:stretch>
            <a:fillRect/>
          </a:stretch>
        </p:blipFill>
        <p:spPr bwMode="auto">
          <a:xfrm>
            <a:off x="2186353" y="1455550"/>
            <a:ext cx="8083062" cy="5330813"/>
          </a:xfrm>
          <a:prstGeom prst="rect">
            <a:avLst/>
          </a:prstGeom>
          <a:noFill/>
          <a:ln>
            <a:noFill/>
          </a:ln>
        </p:spPr>
      </p:pic>
      <p:sp>
        <p:nvSpPr>
          <p:cNvPr id="3" name="TextBox 2">
            <a:extLst>
              <a:ext uri="{FF2B5EF4-FFF2-40B4-BE49-F238E27FC236}">
                <a16:creationId xmlns:a16="http://schemas.microsoft.com/office/drawing/2014/main" id="{347CD149-156F-D553-2474-1F060147BF19}"/>
              </a:ext>
            </a:extLst>
          </p:cNvPr>
          <p:cNvSpPr txBox="1"/>
          <p:nvPr/>
        </p:nvSpPr>
        <p:spPr>
          <a:xfrm>
            <a:off x="948674" y="441960"/>
            <a:ext cx="2475358"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DFD LEVEL 0</a:t>
            </a:r>
          </a:p>
        </p:txBody>
      </p:sp>
    </p:spTree>
    <p:extLst>
      <p:ext uri="{BB962C8B-B14F-4D97-AF65-F5344CB8AC3E}">
        <p14:creationId xmlns:p14="http://schemas.microsoft.com/office/powerpoint/2010/main" val="253927828"/>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918663-5FD6-2FD5-A906-EEF39D64E34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3029" y="299403"/>
            <a:ext cx="5385942" cy="6970077"/>
          </a:xfrm>
          <a:prstGeom prst="rect">
            <a:avLst/>
          </a:prstGeom>
          <a:noFill/>
          <a:ln>
            <a:noFill/>
          </a:ln>
        </p:spPr>
      </p:pic>
      <p:sp>
        <p:nvSpPr>
          <p:cNvPr id="3" name="Rectangle 2">
            <a:extLst>
              <a:ext uri="{FF2B5EF4-FFF2-40B4-BE49-F238E27FC236}">
                <a16:creationId xmlns:a16="http://schemas.microsoft.com/office/drawing/2014/main" id="{8093BA40-F5D5-E2FB-BB0A-585DE8419398}"/>
              </a:ext>
            </a:extLst>
          </p:cNvPr>
          <p:cNvSpPr/>
          <p:nvPr/>
        </p:nvSpPr>
        <p:spPr>
          <a:xfrm>
            <a:off x="3761233" y="621792"/>
            <a:ext cx="835152" cy="4815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a:t>
            </a:r>
          </a:p>
        </p:txBody>
      </p:sp>
      <p:sp>
        <p:nvSpPr>
          <p:cNvPr id="4" name="TextBox 3">
            <a:extLst>
              <a:ext uri="{FF2B5EF4-FFF2-40B4-BE49-F238E27FC236}">
                <a16:creationId xmlns:a16="http://schemas.microsoft.com/office/drawing/2014/main" id="{C4F3E1DE-21FA-A45C-3EAA-E11654A9DAC3}"/>
              </a:ext>
            </a:extLst>
          </p:cNvPr>
          <p:cNvSpPr txBox="1"/>
          <p:nvPr/>
        </p:nvSpPr>
        <p:spPr>
          <a:xfrm>
            <a:off x="798653" y="621792"/>
            <a:ext cx="2475358"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DFD LEVEL 1</a:t>
            </a:r>
          </a:p>
        </p:txBody>
      </p:sp>
    </p:spTree>
    <p:extLst>
      <p:ext uri="{BB962C8B-B14F-4D97-AF65-F5344CB8AC3E}">
        <p14:creationId xmlns:p14="http://schemas.microsoft.com/office/powerpoint/2010/main" val="845666866"/>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C21261-A1B9-130A-C445-5DC57000C85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51521" y="-92785"/>
            <a:ext cx="5943600" cy="7691755"/>
          </a:xfrm>
          <a:prstGeom prst="rect">
            <a:avLst/>
          </a:prstGeom>
          <a:noFill/>
          <a:ln>
            <a:noFill/>
          </a:ln>
        </p:spPr>
      </p:pic>
    </p:spTree>
    <p:extLst>
      <p:ext uri="{BB962C8B-B14F-4D97-AF65-F5344CB8AC3E}">
        <p14:creationId xmlns:p14="http://schemas.microsoft.com/office/powerpoint/2010/main" val="1948446671"/>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BC4132-033C-05B2-6F03-763FCD218B7E}"/>
              </a:ext>
            </a:extLst>
          </p:cNvPr>
          <p:cNvPicPr>
            <a:picLocks noChangeAspect="1"/>
          </p:cNvPicPr>
          <p:nvPr/>
        </p:nvPicPr>
        <p:blipFill>
          <a:blip r:embed="rId2" cstate="print">
            <a:extLst>
              <a:ext uri="{28A0092B-C50C-407E-A947-70E740481C1C}">
                <a14:useLocalDpi xmlns:a14="http://schemas.microsoft.com/office/drawing/2010/main" val="0"/>
              </a:ext>
            </a:extLst>
          </a:blip>
          <a:srcRect t="-5420" b="59671"/>
          <a:stretch>
            <a:fillRect/>
          </a:stretch>
        </p:blipFill>
        <p:spPr bwMode="auto">
          <a:xfrm>
            <a:off x="2273763" y="902637"/>
            <a:ext cx="7644473" cy="4525889"/>
          </a:xfrm>
          <a:prstGeom prst="rect">
            <a:avLst/>
          </a:prstGeom>
          <a:noFill/>
          <a:ln>
            <a:noFill/>
          </a:ln>
        </p:spPr>
      </p:pic>
    </p:spTree>
    <p:extLst>
      <p:ext uri="{BB962C8B-B14F-4D97-AF65-F5344CB8AC3E}">
        <p14:creationId xmlns:p14="http://schemas.microsoft.com/office/powerpoint/2010/main" val="157349586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16953B-FE4C-38D1-B932-FF5A6AE8388B}"/>
              </a:ext>
            </a:extLst>
          </p:cNvPr>
          <p:cNvSpPr txBox="1"/>
          <p:nvPr/>
        </p:nvSpPr>
        <p:spPr>
          <a:xfrm>
            <a:off x="439838" y="520861"/>
            <a:ext cx="2475358"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DFD LEVEL 2</a:t>
            </a:r>
          </a:p>
        </p:txBody>
      </p:sp>
      <p:pic>
        <p:nvPicPr>
          <p:cNvPr id="3" name="Picture 2">
            <a:extLst>
              <a:ext uri="{FF2B5EF4-FFF2-40B4-BE49-F238E27FC236}">
                <a16:creationId xmlns:a16="http://schemas.microsoft.com/office/drawing/2014/main" id="{DC4D6D32-5F90-4A6E-D41C-54C457380382}"/>
              </a:ext>
            </a:extLst>
          </p:cNvPr>
          <p:cNvPicPr>
            <a:picLocks noChangeAspect="1"/>
          </p:cNvPicPr>
          <p:nvPr/>
        </p:nvPicPr>
        <p:blipFill>
          <a:blip r:embed="rId2" cstate="print">
            <a:extLst>
              <a:ext uri="{28A0092B-C50C-407E-A947-70E740481C1C}">
                <a14:useLocalDpi xmlns:a14="http://schemas.microsoft.com/office/drawing/2010/main" val="0"/>
              </a:ext>
            </a:extLst>
          </a:blip>
          <a:srcRect b="39747"/>
          <a:stretch>
            <a:fillRect/>
          </a:stretch>
        </p:blipFill>
        <p:spPr bwMode="auto">
          <a:xfrm>
            <a:off x="3135773" y="747747"/>
            <a:ext cx="7235141" cy="5641551"/>
          </a:xfrm>
          <a:prstGeom prst="rect">
            <a:avLst/>
          </a:prstGeom>
          <a:noFill/>
          <a:ln>
            <a:noFill/>
          </a:ln>
        </p:spPr>
      </p:pic>
    </p:spTree>
    <p:extLst>
      <p:ext uri="{BB962C8B-B14F-4D97-AF65-F5344CB8AC3E}">
        <p14:creationId xmlns:p14="http://schemas.microsoft.com/office/powerpoint/2010/main" val="1920949955"/>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6C4EF0-131C-9FC7-B46D-A6D8AD25811E}"/>
              </a:ext>
            </a:extLst>
          </p:cNvPr>
          <p:cNvSpPr txBox="1"/>
          <p:nvPr/>
        </p:nvSpPr>
        <p:spPr>
          <a:xfrm>
            <a:off x="4345104" y="196770"/>
            <a:ext cx="3501792" cy="707886"/>
          </a:xfrm>
          <a:prstGeom prst="rect">
            <a:avLst/>
          </a:prstGeom>
          <a:noFill/>
        </p:spPr>
        <p:txBody>
          <a:bodyPr wrap="none" rtlCol="0">
            <a:spAutoFit/>
          </a:bodyPr>
          <a:lstStyle/>
          <a:p>
            <a:r>
              <a:rPr lang="en-US" sz="4000" b="1" dirty="0"/>
              <a:t>Data Dictionary</a:t>
            </a:r>
          </a:p>
        </p:txBody>
      </p:sp>
      <p:sp>
        <p:nvSpPr>
          <p:cNvPr id="3" name="TextBox 2">
            <a:extLst>
              <a:ext uri="{FF2B5EF4-FFF2-40B4-BE49-F238E27FC236}">
                <a16:creationId xmlns:a16="http://schemas.microsoft.com/office/drawing/2014/main" id="{28253E46-4903-2578-457D-1020F6D8BA28}"/>
              </a:ext>
            </a:extLst>
          </p:cNvPr>
          <p:cNvSpPr txBox="1"/>
          <p:nvPr/>
        </p:nvSpPr>
        <p:spPr>
          <a:xfrm>
            <a:off x="4606724" y="1213602"/>
            <a:ext cx="2410083" cy="461665"/>
          </a:xfrm>
          <a:prstGeom prst="rect">
            <a:avLst/>
          </a:prstGeom>
          <a:noFill/>
        </p:spPr>
        <p:txBody>
          <a:bodyPr wrap="none" rtlCol="0">
            <a:spAutoFit/>
          </a:bodyPr>
          <a:lstStyle/>
          <a:p>
            <a:pPr marL="285750" indent="-285750">
              <a:buFont typeface="Wingdings" panose="05000000000000000000" pitchFamily="2" charset="2"/>
              <a:buChar char="v"/>
            </a:pPr>
            <a:r>
              <a:rPr lang="en-US" sz="2400" b="1" dirty="0"/>
              <a:t>Table: </a:t>
            </a:r>
            <a:r>
              <a:rPr lang="en-US" sz="2400" b="1" dirty="0" err="1"/>
              <a:t>UserOTP</a:t>
            </a:r>
            <a:endParaRPr lang="en-US" sz="2400" b="1" dirty="0"/>
          </a:p>
        </p:txBody>
      </p:sp>
      <p:graphicFrame>
        <p:nvGraphicFramePr>
          <p:cNvPr id="6" name="Table 5">
            <a:extLst>
              <a:ext uri="{FF2B5EF4-FFF2-40B4-BE49-F238E27FC236}">
                <a16:creationId xmlns:a16="http://schemas.microsoft.com/office/drawing/2014/main" id="{CAC8506D-FEE6-85F7-B25A-3F3CF3AA310E}"/>
              </a:ext>
            </a:extLst>
          </p:cNvPr>
          <p:cNvGraphicFramePr>
            <a:graphicFrameLocks noGrp="1"/>
          </p:cNvGraphicFramePr>
          <p:nvPr>
            <p:extLst>
              <p:ext uri="{D42A27DB-BD31-4B8C-83A1-F6EECF244321}">
                <p14:modId xmlns:p14="http://schemas.microsoft.com/office/powerpoint/2010/main" val="751594662"/>
              </p:ext>
            </p:extLst>
          </p:nvPr>
        </p:nvGraphicFramePr>
        <p:xfrm>
          <a:off x="838200" y="1984213"/>
          <a:ext cx="10840656" cy="3930451"/>
        </p:xfrm>
        <a:graphic>
          <a:graphicData uri="http://schemas.openxmlformats.org/drawingml/2006/table">
            <a:tbl>
              <a:tblPr firstRow="1" firstCol="1" bandRow="1">
                <a:tableStyleId>{9D7B26C5-4107-4FEC-AEDC-1716B250A1EF}</a:tableStyleId>
              </a:tblPr>
              <a:tblGrid>
                <a:gridCol w="2710164">
                  <a:extLst>
                    <a:ext uri="{9D8B030D-6E8A-4147-A177-3AD203B41FA5}">
                      <a16:colId xmlns:a16="http://schemas.microsoft.com/office/drawing/2014/main" val="3742030018"/>
                    </a:ext>
                  </a:extLst>
                </a:gridCol>
                <a:gridCol w="2710164">
                  <a:extLst>
                    <a:ext uri="{9D8B030D-6E8A-4147-A177-3AD203B41FA5}">
                      <a16:colId xmlns:a16="http://schemas.microsoft.com/office/drawing/2014/main" val="3538533231"/>
                    </a:ext>
                  </a:extLst>
                </a:gridCol>
                <a:gridCol w="2710164">
                  <a:extLst>
                    <a:ext uri="{9D8B030D-6E8A-4147-A177-3AD203B41FA5}">
                      <a16:colId xmlns:a16="http://schemas.microsoft.com/office/drawing/2014/main" val="1805052729"/>
                    </a:ext>
                  </a:extLst>
                </a:gridCol>
                <a:gridCol w="2710164">
                  <a:extLst>
                    <a:ext uri="{9D8B030D-6E8A-4147-A177-3AD203B41FA5}">
                      <a16:colId xmlns:a16="http://schemas.microsoft.com/office/drawing/2014/main" val="3641385648"/>
                    </a:ext>
                  </a:extLst>
                </a:gridCol>
              </a:tblGrid>
              <a:tr h="491306">
                <a:tc>
                  <a:txBody>
                    <a:bodyPr/>
                    <a:lstStyle/>
                    <a:p>
                      <a:pPr marL="0" marR="0" algn="ctr">
                        <a:buNone/>
                      </a:pPr>
                      <a:r>
                        <a:rPr lang="en-US" sz="2400">
                          <a:effectLst/>
                        </a:rPr>
                        <a:t>Column Name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Data Type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Constraints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Description</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760507020"/>
                  </a:ext>
                </a:extLst>
              </a:tr>
              <a:tr h="982613">
                <a:tc>
                  <a:txBody>
                    <a:bodyPr/>
                    <a:lstStyle/>
                    <a:p>
                      <a:pPr marL="0" marR="0" algn="ctr">
                        <a:buNone/>
                      </a:pPr>
                      <a:r>
                        <a:rPr lang="en-US" sz="2400" dirty="0">
                          <a:effectLst/>
                        </a:rPr>
                        <a:t>id</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PRIMARY KEY, AUTO_INCREMENT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Unique identifier for OTP record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969405027"/>
                  </a:ext>
                </a:extLst>
              </a:tr>
              <a:tr h="491306">
                <a:tc>
                  <a:txBody>
                    <a:bodyPr/>
                    <a:lstStyle/>
                    <a:p>
                      <a:pPr marL="0" marR="0" algn="ctr">
                        <a:buNone/>
                      </a:pPr>
                      <a:r>
                        <a:rPr lang="en-US" sz="2400" dirty="0">
                          <a:effectLst/>
                        </a:rPr>
                        <a:t>email</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dirty="0">
                          <a:effectLst/>
                        </a:rPr>
                        <a:t>VARCHAR(254)</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UNIQUE, NOT NULL</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User's email address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301912377"/>
                  </a:ext>
                </a:extLst>
              </a:tr>
              <a:tr h="982613">
                <a:tc>
                  <a:txBody>
                    <a:bodyPr/>
                    <a:lstStyle/>
                    <a:p>
                      <a:pPr marL="0" marR="0" algn="ctr">
                        <a:buNone/>
                      </a:pPr>
                      <a:r>
                        <a:rPr lang="en-US" sz="2400">
                          <a:effectLst/>
                        </a:rPr>
                        <a:t>is_email_verified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BOOLEAN</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DEFAULT FALSE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dirty="0">
                          <a:effectLst/>
                        </a:rPr>
                        <a:t>Whether email has been verified</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488138593"/>
                  </a:ext>
                </a:extLst>
              </a:tr>
              <a:tr h="982613">
                <a:tc>
                  <a:txBody>
                    <a:bodyPr/>
                    <a:lstStyle/>
                    <a:p>
                      <a:pPr marL="0" marR="0" algn="ctr">
                        <a:buNone/>
                      </a:pPr>
                      <a:r>
                        <a:rPr lang="en-US" sz="2400">
                          <a:effectLst/>
                        </a:rPr>
                        <a:t>email_otp</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VARCHAR(6)</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NULL</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dirty="0">
                          <a:effectLst/>
                        </a:rPr>
                        <a:t>6-digit OTP code for verification</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050920059"/>
                  </a:ext>
                </a:extLst>
              </a:tr>
            </a:tbl>
          </a:graphicData>
        </a:graphic>
      </p:graphicFrame>
    </p:spTree>
    <p:extLst>
      <p:ext uri="{BB962C8B-B14F-4D97-AF65-F5344CB8AC3E}">
        <p14:creationId xmlns:p14="http://schemas.microsoft.com/office/powerpoint/2010/main" val="3698895503"/>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056C7C-7F35-FBEA-F314-71686F348237}"/>
              </a:ext>
            </a:extLst>
          </p:cNvPr>
          <p:cNvSpPr txBox="1"/>
          <p:nvPr/>
        </p:nvSpPr>
        <p:spPr>
          <a:xfrm>
            <a:off x="4595149" y="567160"/>
            <a:ext cx="2453749"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Table: </a:t>
            </a:r>
            <a:r>
              <a:rPr lang="en-US" sz="2400" b="1" dirty="0" err="1"/>
              <a:t>UserInfo</a:t>
            </a:r>
            <a:endParaRPr lang="en-US" sz="2400" b="1" dirty="0"/>
          </a:p>
        </p:txBody>
      </p:sp>
      <p:graphicFrame>
        <p:nvGraphicFramePr>
          <p:cNvPr id="3" name="Table 2">
            <a:extLst>
              <a:ext uri="{FF2B5EF4-FFF2-40B4-BE49-F238E27FC236}">
                <a16:creationId xmlns:a16="http://schemas.microsoft.com/office/drawing/2014/main" id="{A8C8AA14-BAD1-CBBD-46B7-FC859334B380}"/>
              </a:ext>
            </a:extLst>
          </p:cNvPr>
          <p:cNvGraphicFramePr>
            <a:graphicFrameLocks noGrp="1"/>
          </p:cNvGraphicFramePr>
          <p:nvPr>
            <p:extLst>
              <p:ext uri="{D42A27DB-BD31-4B8C-83A1-F6EECF244321}">
                <p14:modId xmlns:p14="http://schemas.microsoft.com/office/powerpoint/2010/main" val="580239935"/>
              </p:ext>
            </p:extLst>
          </p:nvPr>
        </p:nvGraphicFramePr>
        <p:xfrm>
          <a:off x="629856" y="1676326"/>
          <a:ext cx="10932288" cy="3962400"/>
        </p:xfrm>
        <a:graphic>
          <a:graphicData uri="http://schemas.openxmlformats.org/drawingml/2006/table">
            <a:tbl>
              <a:tblPr firstRow="1" firstCol="1" bandRow="1">
                <a:tableStyleId>{9D7B26C5-4107-4FEC-AEDC-1716B250A1EF}</a:tableStyleId>
              </a:tblPr>
              <a:tblGrid>
                <a:gridCol w="2733072">
                  <a:extLst>
                    <a:ext uri="{9D8B030D-6E8A-4147-A177-3AD203B41FA5}">
                      <a16:colId xmlns:a16="http://schemas.microsoft.com/office/drawing/2014/main" val="2274072987"/>
                    </a:ext>
                  </a:extLst>
                </a:gridCol>
                <a:gridCol w="2733072">
                  <a:extLst>
                    <a:ext uri="{9D8B030D-6E8A-4147-A177-3AD203B41FA5}">
                      <a16:colId xmlns:a16="http://schemas.microsoft.com/office/drawing/2014/main" val="1592042451"/>
                    </a:ext>
                  </a:extLst>
                </a:gridCol>
                <a:gridCol w="2733072">
                  <a:extLst>
                    <a:ext uri="{9D8B030D-6E8A-4147-A177-3AD203B41FA5}">
                      <a16:colId xmlns:a16="http://schemas.microsoft.com/office/drawing/2014/main" val="1924277061"/>
                    </a:ext>
                  </a:extLst>
                </a:gridCol>
                <a:gridCol w="2733072">
                  <a:extLst>
                    <a:ext uri="{9D8B030D-6E8A-4147-A177-3AD203B41FA5}">
                      <a16:colId xmlns:a16="http://schemas.microsoft.com/office/drawing/2014/main" val="3991322424"/>
                    </a:ext>
                  </a:extLst>
                </a:gridCol>
              </a:tblGrid>
              <a:tr h="0">
                <a:tc>
                  <a:txBody>
                    <a:bodyPr/>
                    <a:lstStyle/>
                    <a:p>
                      <a:pPr marL="0" marR="0" algn="ctr">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247531246"/>
                  </a:ext>
                </a:extLst>
              </a:tr>
              <a:tr h="0">
                <a:tc>
                  <a:txBody>
                    <a:bodyPr/>
                    <a:lstStyle/>
                    <a:p>
                      <a:pPr marL="0" marR="0" algn="ctr">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Unique identifier for user info</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245737960"/>
                  </a:ext>
                </a:extLst>
              </a:tr>
              <a:tr h="0">
                <a:tc>
                  <a:txBody>
                    <a:bodyPr/>
                    <a:lstStyle/>
                    <a:p>
                      <a:pPr marL="0" marR="0" algn="ctr">
                        <a:buNone/>
                      </a:pPr>
                      <a:r>
                        <a:rPr lang="en-US" sz="2000" dirty="0" err="1">
                          <a:effectLst/>
                        </a:rPr>
                        <a:t>UserName_id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UNIQUE, NOT NULL, FOREIGN KEY (auth_user.id)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Reference to main user account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493232981"/>
                  </a:ext>
                </a:extLst>
              </a:tr>
              <a:tr h="0">
                <a:tc>
                  <a:txBody>
                    <a:bodyPr/>
                    <a:lstStyle/>
                    <a:p>
                      <a:pPr marL="0" marR="0" algn="ctr">
                        <a:buNone/>
                      </a:pPr>
                      <a:r>
                        <a:rPr lang="en-US" sz="2000">
                          <a:effectLst/>
                        </a:rPr>
                        <a:t>Ganders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VARCHAR(15)</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CHECK (Male, Other, Female)</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User's gender (note: typo in 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201997861"/>
                  </a:ext>
                </a:extLst>
              </a:tr>
              <a:tr h="0">
                <a:tc>
                  <a:txBody>
                    <a:bodyPr/>
                    <a:lstStyle/>
                    <a:p>
                      <a:pPr marL="0" marR="0" algn="ctr">
                        <a:buNone/>
                      </a:pPr>
                      <a:r>
                        <a:rPr lang="en-US" sz="2000">
                          <a:effectLst/>
                        </a:rPr>
                        <a:t>address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VARCHAR(150)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User's physical address</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97426126"/>
                  </a:ext>
                </a:extLst>
              </a:tr>
              <a:tr h="0">
                <a:tc>
                  <a:txBody>
                    <a:bodyPr/>
                    <a:lstStyle/>
                    <a:p>
                      <a:pPr marL="0" marR="0" algn="ctr">
                        <a:buNone/>
                      </a:pPr>
                      <a:r>
                        <a:rPr lang="en-US" sz="2000">
                          <a:effectLst/>
                        </a:rPr>
                        <a:t>picture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VARCHAR(100)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Profile picture file path</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276644276"/>
                  </a:ext>
                </a:extLst>
              </a:tr>
              <a:tr h="0">
                <a:tc>
                  <a:txBody>
                    <a:bodyPr/>
                    <a:lstStyle/>
                    <a:p>
                      <a:pPr marL="0" marR="0" algn="ctr">
                        <a:buNone/>
                      </a:pPr>
                      <a:r>
                        <a:rPr lang="en-US" sz="2000">
                          <a:effectLst/>
                        </a:rPr>
                        <a:t>language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VARCHAR(100)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DEFAULT 'English', CHECK (English, Hindi, Gujarati)</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User's preferred language</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0043641"/>
                  </a:ext>
                </a:extLst>
              </a:tr>
            </a:tbl>
          </a:graphicData>
        </a:graphic>
      </p:graphicFrame>
      <p:sp>
        <p:nvSpPr>
          <p:cNvPr id="4" name="Rectangle 1">
            <a:extLst>
              <a:ext uri="{FF2B5EF4-FFF2-40B4-BE49-F238E27FC236}">
                <a16:creationId xmlns:a16="http://schemas.microsoft.com/office/drawing/2014/main" id="{483FA766-5CC0-3071-08D2-C2D250509D08}"/>
              </a:ext>
            </a:extLst>
          </p:cNvPr>
          <p:cNvSpPr>
            <a:spLocks noChangeArrowheads="1"/>
          </p:cNvSpPr>
          <p:nvPr/>
        </p:nvSpPr>
        <p:spPr bwMode="auto">
          <a:xfrm>
            <a:off x="629856" y="167680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01447245"/>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E9E62A-07F0-75ED-2F1C-E059B4481F0C}"/>
              </a:ext>
            </a:extLst>
          </p:cNvPr>
          <p:cNvSpPr txBox="1"/>
          <p:nvPr/>
        </p:nvSpPr>
        <p:spPr>
          <a:xfrm>
            <a:off x="4514127" y="653968"/>
            <a:ext cx="2644955" cy="461665"/>
          </a:xfrm>
          <a:prstGeom prst="rect">
            <a:avLst/>
          </a:prstGeom>
          <a:noFill/>
        </p:spPr>
        <p:txBody>
          <a:bodyPr wrap="none" rtlCol="0">
            <a:spAutoFit/>
          </a:bodyPr>
          <a:lstStyle/>
          <a:p>
            <a:pPr marL="285750" indent="-285750">
              <a:buFont typeface="Wingdings" panose="05000000000000000000" pitchFamily="2" charset="2"/>
              <a:buChar char="v"/>
            </a:pPr>
            <a:r>
              <a:rPr lang="en-US" sz="2400" b="1" dirty="0"/>
              <a:t>Table: Contact us</a:t>
            </a:r>
          </a:p>
        </p:txBody>
      </p:sp>
      <p:graphicFrame>
        <p:nvGraphicFramePr>
          <p:cNvPr id="3" name="Table 2">
            <a:extLst>
              <a:ext uri="{FF2B5EF4-FFF2-40B4-BE49-F238E27FC236}">
                <a16:creationId xmlns:a16="http://schemas.microsoft.com/office/drawing/2014/main" id="{BF50F946-0FF3-B085-B288-4D62AB50DC4D}"/>
              </a:ext>
            </a:extLst>
          </p:cNvPr>
          <p:cNvGraphicFramePr>
            <a:graphicFrameLocks noGrp="1"/>
          </p:cNvGraphicFramePr>
          <p:nvPr>
            <p:extLst>
              <p:ext uri="{D42A27DB-BD31-4B8C-83A1-F6EECF244321}">
                <p14:modId xmlns:p14="http://schemas.microsoft.com/office/powerpoint/2010/main" val="2602563652"/>
              </p:ext>
            </p:extLst>
          </p:nvPr>
        </p:nvGraphicFramePr>
        <p:xfrm>
          <a:off x="618281" y="1600200"/>
          <a:ext cx="10979552" cy="4603832"/>
        </p:xfrm>
        <a:graphic>
          <a:graphicData uri="http://schemas.openxmlformats.org/drawingml/2006/table">
            <a:tbl>
              <a:tblPr firstRow="1" firstCol="1" bandRow="1">
                <a:tableStyleId>{9D7B26C5-4107-4FEC-AEDC-1716B250A1EF}</a:tableStyleId>
              </a:tblPr>
              <a:tblGrid>
                <a:gridCol w="2744888">
                  <a:extLst>
                    <a:ext uri="{9D8B030D-6E8A-4147-A177-3AD203B41FA5}">
                      <a16:colId xmlns:a16="http://schemas.microsoft.com/office/drawing/2014/main" val="2848578052"/>
                    </a:ext>
                  </a:extLst>
                </a:gridCol>
                <a:gridCol w="2744888">
                  <a:extLst>
                    <a:ext uri="{9D8B030D-6E8A-4147-A177-3AD203B41FA5}">
                      <a16:colId xmlns:a16="http://schemas.microsoft.com/office/drawing/2014/main" val="3741226486"/>
                    </a:ext>
                  </a:extLst>
                </a:gridCol>
                <a:gridCol w="2744888">
                  <a:extLst>
                    <a:ext uri="{9D8B030D-6E8A-4147-A177-3AD203B41FA5}">
                      <a16:colId xmlns:a16="http://schemas.microsoft.com/office/drawing/2014/main" val="3106374016"/>
                    </a:ext>
                  </a:extLst>
                </a:gridCol>
                <a:gridCol w="2744888">
                  <a:extLst>
                    <a:ext uri="{9D8B030D-6E8A-4147-A177-3AD203B41FA5}">
                      <a16:colId xmlns:a16="http://schemas.microsoft.com/office/drawing/2014/main" val="3160961021"/>
                    </a:ext>
                  </a:extLst>
                </a:gridCol>
              </a:tblGrid>
              <a:tr h="383653">
                <a:tc>
                  <a:txBody>
                    <a:bodyPr/>
                    <a:lstStyle/>
                    <a:p>
                      <a:pPr marL="0" marR="0" algn="ctr">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95692968"/>
                  </a:ext>
                </a:extLst>
              </a:tr>
              <a:tr h="767305">
                <a:tc>
                  <a:txBody>
                    <a:bodyPr/>
                    <a:lstStyle/>
                    <a:p>
                      <a:pPr marL="0" marR="0" algn="ctr">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Unique contact record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61076837"/>
                  </a:ext>
                </a:extLst>
              </a:tr>
              <a:tr h="767305">
                <a:tc>
                  <a:txBody>
                    <a:bodyPr/>
                    <a:lstStyle/>
                    <a:p>
                      <a:pPr marL="0" marR="0" algn="ctr">
                        <a:buNone/>
                      </a:pPr>
                      <a:r>
                        <a:rPr lang="en-US" sz="2000">
                          <a:effectLst/>
                        </a:rPr>
                        <a:t>UserChoice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VARCHAR(25)</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Reason for contact/category</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621558625"/>
                  </a:ext>
                </a:extLst>
              </a:tr>
              <a:tr h="383653">
                <a:tc>
                  <a:txBody>
                    <a:bodyPr/>
                    <a:lstStyle/>
                    <a:p>
                      <a:pPr marL="0" marR="0" algn="ctr">
                        <a:buNone/>
                      </a:pPr>
                      <a:r>
                        <a:rPr lang="en-US" sz="2000">
                          <a:effectLst/>
                        </a:rPr>
                        <a:t>UserEmail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VARCHAR(254)</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Contact email address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680308293"/>
                  </a:ext>
                </a:extLst>
              </a:tr>
              <a:tr h="767305">
                <a:tc>
                  <a:txBody>
                    <a:bodyPr/>
                    <a:lstStyle/>
                    <a:p>
                      <a:pPr marL="0" marR="0" algn="ctr">
                        <a:buNone/>
                      </a:pPr>
                      <a:r>
                        <a:rPr lang="en-US" sz="2000">
                          <a:effectLst/>
                        </a:rPr>
                        <a:t>UserFullName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VARCHAR(200)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NOT NULL</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Contact person's full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86738313"/>
                  </a:ext>
                </a:extLst>
              </a:tr>
              <a:tr h="383653">
                <a:tc>
                  <a:txBody>
                    <a:bodyPr/>
                    <a:lstStyle/>
                    <a:p>
                      <a:pPr marL="0" marR="0" algn="ctr">
                        <a:buNone/>
                      </a:pPr>
                      <a:r>
                        <a:rPr lang="en-US" sz="2000">
                          <a:effectLst/>
                        </a:rPr>
                        <a:t>UserPhone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VARCHAR(30)</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Contact phone number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438360306"/>
                  </a:ext>
                </a:extLst>
              </a:tr>
              <a:tr h="383653">
                <a:tc>
                  <a:txBody>
                    <a:bodyPr/>
                    <a:lstStyle/>
                    <a:p>
                      <a:pPr marL="0" marR="0" algn="ctr">
                        <a:buNone/>
                      </a:pPr>
                      <a:r>
                        <a:rPr lang="en-US" sz="2000">
                          <a:effectLst/>
                        </a:rPr>
                        <a:t>UserMessenger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Message content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43798607"/>
                  </a:ext>
                </a:extLst>
              </a:tr>
              <a:tr h="767305">
                <a:tc>
                  <a:txBody>
                    <a:bodyPr/>
                    <a:lstStyle/>
                    <a:p>
                      <a:pPr marL="0" marR="0" algn="ctr">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DATETIME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a:effectLst/>
                        </a:rPr>
                        <a:t>DEFAULT CURRENT_TIMESTAMP</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000" dirty="0">
                          <a:effectLst/>
                        </a:rPr>
                        <a:t>Submission timestamp</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90348007"/>
                  </a:ext>
                </a:extLst>
              </a:tr>
            </a:tbl>
          </a:graphicData>
        </a:graphic>
      </p:graphicFrame>
    </p:spTree>
    <p:extLst>
      <p:ext uri="{BB962C8B-B14F-4D97-AF65-F5344CB8AC3E}">
        <p14:creationId xmlns:p14="http://schemas.microsoft.com/office/powerpoint/2010/main" val="2714665926"/>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C0422E-7F0D-6B22-A8B4-E034DC0EA50F}"/>
              </a:ext>
            </a:extLst>
          </p:cNvPr>
          <p:cNvSpPr txBox="1"/>
          <p:nvPr/>
        </p:nvSpPr>
        <p:spPr>
          <a:xfrm>
            <a:off x="4899967" y="520861"/>
            <a:ext cx="2392065" cy="523220"/>
          </a:xfrm>
          <a:prstGeom prst="rect">
            <a:avLst/>
          </a:prstGeom>
          <a:noFill/>
        </p:spPr>
        <p:txBody>
          <a:bodyPr wrap="none" rtlCol="0">
            <a:spAutoFit/>
          </a:bodyPr>
          <a:lstStyle/>
          <a:p>
            <a:pPr marL="342900" indent="-342900">
              <a:buFont typeface="Wingdings" panose="05000000000000000000" pitchFamily="2" charset="2"/>
              <a:buChar char="v"/>
            </a:pPr>
            <a:r>
              <a:rPr lang="en-US" sz="2800" b="1" dirty="0"/>
              <a:t>Table: Office</a:t>
            </a:r>
          </a:p>
        </p:txBody>
      </p:sp>
      <p:graphicFrame>
        <p:nvGraphicFramePr>
          <p:cNvPr id="3" name="Table 2">
            <a:extLst>
              <a:ext uri="{FF2B5EF4-FFF2-40B4-BE49-F238E27FC236}">
                <a16:creationId xmlns:a16="http://schemas.microsoft.com/office/drawing/2014/main" id="{E4F73050-F8BD-BA31-D6C5-6F2BEBE79D6E}"/>
              </a:ext>
            </a:extLst>
          </p:cNvPr>
          <p:cNvGraphicFramePr>
            <a:graphicFrameLocks noGrp="1"/>
          </p:cNvGraphicFramePr>
          <p:nvPr>
            <p:extLst>
              <p:ext uri="{D42A27DB-BD31-4B8C-83A1-F6EECF244321}">
                <p14:modId xmlns:p14="http://schemas.microsoft.com/office/powerpoint/2010/main" val="1246837466"/>
              </p:ext>
            </p:extLst>
          </p:nvPr>
        </p:nvGraphicFramePr>
        <p:xfrm>
          <a:off x="838199" y="2148840"/>
          <a:ext cx="10515600" cy="2560320"/>
        </p:xfrm>
        <a:graphic>
          <a:graphicData uri="http://schemas.openxmlformats.org/drawingml/2006/table">
            <a:tbl>
              <a:tblPr firstRow="1" firstCol="1" bandRow="1">
                <a:tableStyleId>{9D7B26C5-4107-4FEC-AEDC-1716B250A1EF}</a:tableStyleId>
              </a:tblPr>
              <a:tblGrid>
                <a:gridCol w="2628900">
                  <a:extLst>
                    <a:ext uri="{9D8B030D-6E8A-4147-A177-3AD203B41FA5}">
                      <a16:colId xmlns:a16="http://schemas.microsoft.com/office/drawing/2014/main" val="3229463228"/>
                    </a:ext>
                  </a:extLst>
                </a:gridCol>
                <a:gridCol w="2628900">
                  <a:extLst>
                    <a:ext uri="{9D8B030D-6E8A-4147-A177-3AD203B41FA5}">
                      <a16:colId xmlns:a16="http://schemas.microsoft.com/office/drawing/2014/main" val="891796392"/>
                    </a:ext>
                  </a:extLst>
                </a:gridCol>
                <a:gridCol w="2628900">
                  <a:extLst>
                    <a:ext uri="{9D8B030D-6E8A-4147-A177-3AD203B41FA5}">
                      <a16:colId xmlns:a16="http://schemas.microsoft.com/office/drawing/2014/main" val="418652696"/>
                    </a:ext>
                  </a:extLst>
                </a:gridCol>
                <a:gridCol w="2628900">
                  <a:extLst>
                    <a:ext uri="{9D8B030D-6E8A-4147-A177-3AD203B41FA5}">
                      <a16:colId xmlns:a16="http://schemas.microsoft.com/office/drawing/2014/main" val="904292209"/>
                    </a:ext>
                  </a:extLst>
                </a:gridCol>
              </a:tblGrid>
              <a:tr h="0">
                <a:tc>
                  <a:txBody>
                    <a:bodyPr/>
                    <a:lstStyle/>
                    <a:p>
                      <a:pPr marL="0" marR="0">
                        <a:buNone/>
                      </a:pPr>
                      <a:r>
                        <a:rPr lang="en-US" sz="2400">
                          <a:effectLst/>
                        </a:rPr>
                        <a:t>Column Name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Data Type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Constraints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Description</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93134370"/>
                  </a:ext>
                </a:extLst>
              </a:tr>
              <a:tr h="0">
                <a:tc>
                  <a:txBody>
                    <a:bodyPr/>
                    <a:lstStyle/>
                    <a:p>
                      <a:pPr marL="0" marR="0">
                        <a:buNone/>
                      </a:pPr>
                      <a:r>
                        <a:rPr lang="en-US" sz="2400">
                          <a:effectLst/>
                        </a:rPr>
                        <a:t>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dirty="0">
                          <a:effectLst/>
                        </a:rPr>
                        <a:t>INT</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PRIMARY KEY, AUTO_INCREMENT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Unique office identifier</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406098766"/>
                  </a:ext>
                </a:extLst>
              </a:tr>
              <a:tr h="0">
                <a:tc>
                  <a:txBody>
                    <a:bodyPr/>
                    <a:lstStyle/>
                    <a:p>
                      <a:pPr marL="0" marR="0">
                        <a:buNone/>
                      </a:pPr>
                      <a:r>
                        <a:rPr lang="en-US" sz="2400">
                          <a:effectLst/>
                        </a:rPr>
                        <a:t>address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dirty="0">
                          <a:effectLst/>
                        </a:rPr>
                        <a:t>VARCHAR(200)</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UNIQUE, NOT NULL</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Office physical address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975754208"/>
                  </a:ext>
                </a:extLst>
              </a:tr>
              <a:tr h="0">
                <a:tc>
                  <a:txBody>
                    <a:bodyPr/>
                    <a:lstStyle/>
                    <a:p>
                      <a:pPr marL="0" marR="0">
                        <a:buNone/>
                      </a:pPr>
                      <a:r>
                        <a:rPr lang="en-US" sz="2400" dirty="0">
                          <a:effectLst/>
                        </a:rPr>
                        <a:t>manger</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VARCHAR(100)</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NOT NULL</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dirty="0">
                          <a:effectLst/>
                        </a:rPr>
                        <a:t>Office manager name (note: typo)</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485787976"/>
                  </a:ext>
                </a:extLst>
              </a:tr>
            </a:tbl>
          </a:graphicData>
        </a:graphic>
      </p:graphicFrame>
    </p:spTree>
    <p:extLst>
      <p:ext uri="{BB962C8B-B14F-4D97-AF65-F5344CB8AC3E}">
        <p14:creationId xmlns:p14="http://schemas.microsoft.com/office/powerpoint/2010/main" val="80469298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5FB8E4-604C-CA3D-6C08-394155CA66D7}"/>
              </a:ext>
            </a:extLst>
          </p:cNvPr>
          <p:cNvSpPr txBox="1"/>
          <p:nvPr/>
        </p:nvSpPr>
        <p:spPr>
          <a:xfrm>
            <a:off x="4479403" y="532435"/>
            <a:ext cx="3131883"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Table: Staff Member</a:t>
            </a:r>
          </a:p>
        </p:txBody>
      </p:sp>
      <p:graphicFrame>
        <p:nvGraphicFramePr>
          <p:cNvPr id="3" name="Table 2">
            <a:extLst>
              <a:ext uri="{FF2B5EF4-FFF2-40B4-BE49-F238E27FC236}">
                <a16:creationId xmlns:a16="http://schemas.microsoft.com/office/drawing/2014/main" id="{FB2A7341-7862-0D02-5123-00245A1748C5}"/>
              </a:ext>
            </a:extLst>
          </p:cNvPr>
          <p:cNvGraphicFramePr>
            <a:graphicFrameLocks noGrp="1"/>
          </p:cNvGraphicFramePr>
          <p:nvPr>
            <p:extLst>
              <p:ext uri="{D42A27DB-BD31-4B8C-83A1-F6EECF244321}">
                <p14:modId xmlns:p14="http://schemas.microsoft.com/office/powerpoint/2010/main" val="2724210015"/>
              </p:ext>
            </p:extLst>
          </p:nvPr>
        </p:nvGraphicFramePr>
        <p:xfrm>
          <a:off x="536388" y="1142718"/>
          <a:ext cx="10910976" cy="4876800"/>
        </p:xfrm>
        <a:graphic>
          <a:graphicData uri="http://schemas.openxmlformats.org/drawingml/2006/table">
            <a:tbl>
              <a:tblPr firstRow="1" firstCol="1" bandRow="1">
                <a:tableStyleId>{9D7B26C5-4107-4FEC-AEDC-1716B250A1EF}</a:tableStyleId>
              </a:tblPr>
              <a:tblGrid>
                <a:gridCol w="2727744">
                  <a:extLst>
                    <a:ext uri="{9D8B030D-6E8A-4147-A177-3AD203B41FA5}">
                      <a16:colId xmlns:a16="http://schemas.microsoft.com/office/drawing/2014/main" val="702229982"/>
                    </a:ext>
                  </a:extLst>
                </a:gridCol>
                <a:gridCol w="2727744">
                  <a:extLst>
                    <a:ext uri="{9D8B030D-6E8A-4147-A177-3AD203B41FA5}">
                      <a16:colId xmlns:a16="http://schemas.microsoft.com/office/drawing/2014/main" val="2087158002"/>
                    </a:ext>
                  </a:extLst>
                </a:gridCol>
                <a:gridCol w="2727744">
                  <a:extLst>
                    <a:ext uri="{9D8B030D-6E8A-4147-A177-3AD203B41FA5}">
                      <a16:colId xmlns:a16="http://schemas.microsoft.com/office/drawing/2014/main" val="3138559879"/>
                    </a:ext>
                  </a:extLst>
                </a:gridCol>
                <a:gridCol w="2727744">
                  <a:extLst>
                    <a:ext uri="{9D8B030D-6E8A-4147-A177-3AD203B41FA5}">
                      <a16:colId xmlns:a16="http://schemas.microsoft.com/office/drawing/2014/main" val="333187807"/>
                    </a:ext>
                  </a:extLst>
                </a:gridCol>
              </a:tblGrid>
              <a:tr h="217567">
                <a:tc>
                  <a:txBody>
                    <a:bodyPr/>
                    <a:lstStyle/>
                    <a:p>
                      <a:pPr marL="0" marR="0">
                        <a:buNone/>
                      </a:pPr>
                      <a:r>
                        <a:rPr lang="en-US" sz="1600">
                          <a:effectLst/>
                        </a:rPr>
                        <a:t>Column Name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Data Type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Constraints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Description</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81963145"/>
                  </a:ext>
                </a:extLst>
              </a:tr>
              <a:tr h="435134">
                <a:tc>
                  <a:txBody>
                    <a:bodyPr/>
                    <a:lstStyle/>
                    <a:p>
                      <a:pPr marL="0" marR="0">
                        <a:buNone/>
                      </a:pPr>
                      <a:r>
                        <a:rPr lang="en-US" sz="1600">
                          <a:effectLst/>
                        </a:rPr>
                        <a:t>id</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INT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PRIMARY KEY, AUTO_INCREMENT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Unique staff identifier</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2130034127"/>
                  </a:ext>
                </a:extLst>
              </a:tr>
              <a:tr h="435134">
                <a:tc>
                  <a:txBody>
                    <a:bodyPr/>
                    <a:lstStyle/>
                    <a:p>
                      <a:pPr marL="0" marR="0">
                        <a:buNone/>
                      </a:pPr>
                      <a:r>
                        <a:rPr lang="en-US" sz="1600">
                          <a:effectLst/>
                        </a:rPr>
                        <a:t>user_id</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INT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UNIQUE, NOT NULL, FOREIGN KEY (auth_user.id)</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Associated user account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2156828057"/>
                  </a:ext>
                </a:extLst>
              </a:tr>
              <a:tr h="217567">
                <a:tc>
                  <a:txBody>
                    <a:bodyPr/>
                    <a:lstStyle/>
                    <a:p>
                      <a:pPr marL="0" marR="0">
                        <a:buNone/>
                      </a:pPr>
                      <a:r>
                        <a:rPr lang="en-US" sz="1600">
                          <a:effectLst/>
                        </a:rPr>
                        <a:t>staff_name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VARCHAR(200)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NOT NULL</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Staff member's full name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4013230960"/>
                  </a:ext>
                </a:extLst>
              </a:tr>
              <a:tr h="435134">
                <a:tc>
                  <a:txBody>
                    <a:bodyPr/>
                    <a:lstStyle/>
                    <a:p>
                      <a:pPr marL="0" marR="0">
                        <a:buNone/>
                      </a:pPr>
                      <a:r>
                        <a:rPr lang="en-US" sz="1600">
                          <a:effectLst/>
                        </a:rPr>
                        <a:t>Office_id</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INT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 FOREIGN KEY (Office.id)</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Associated office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511360595"/>
                  </a:ext>
                </a:extLst>
              </a:tr>
              <a:tr h="435134">
                <a:tc>
                  <a:txBody>
                    <a:bodyPr/>
                    <a:lstStyle/>
                    <a:p>
                      <a:pPr marL="0" marR="0">
                        <a:buNone/>
                      </a:pPr>
                      <a:r>
                        <a:rPr lang="en-US" sz="1600">
                          <a:effectLst/>
                        </a:rPr>
                        <a:t>position</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VARCHAR(100)</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CHECK (none, Admin, CEO, Manager, ...)</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Staff position/role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644166459"/>
                  </a:ext>
                </a:extLst>
              </a:tr>
              <a:tr h="217567">
                <a:tc>
                  <a:txBody>
                    <a:bodyPr/>
                    <a:lstStyle/>
                    <a:p>
                      <a:pPr marL="0" marR="0">
                        <a:buNone/>
                      </a:pPr>
                      <a:r>
                        <a:rPr lang="en-US" sz="1600">
                          <a:effectLst/>
                        </a:rPr>
                        <a:t>DateOfBirth</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Staff birth 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392659380"/>
                  </a:ext>
                </a:extLst>
              </a:tr>
              <a:tr h="217567">
                <a:tc>
                  <a:txBody>
                    <a:bodyPr/>
                    <a:lstStyle/>
                    <a:p>
                      <a:pPr marL="0" marR="0">
                        <a:buNone/>
                      </a:pPr>
                      <a:r>
                        <a:rPr lang="en-US" sz="1600">
                          <a:effectLst/>
                        </a:rPr>
                        <a:t>PhoneNumber</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VARCHAR(100)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Contact phone number</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3028339821"/>
                  </a:ext>
                </a:extLst>
              </a:tr>
              <a:tr h="217567">
                <a:tc>
                  <a:txBody>
                    <a:bodyPr/>
                    <a:lstStyle/>
                    <a:p>
                      <a:pPr marL="0" marR="0">
                        <a:buNone/>
                      </a:pPr>
                      <a:r>
                        <a:rPr lang="en-US" sz="1600">
                          <a:effectLst/>
                        </a:rPr>
                        <a:t>ZipCode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VARCHAR(15)</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Postal zip code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086119466"/>
                  </a:ext>
                </a:extLst>
              </a:tr>
              <a:tr h="217567">
                <a:tc>
                  <a:txBody>
                    <a:bodyPr/>
                    <a:lstStyle/>
                    <a:p>
                      <a:pPr marL="0" marR="0">
                        <a:buNone/>
                      </a:pPr>
                      <a:r>
                        <a:rPr lang="en-US" sz="1600">
                          <a:effectLst/>
                        </a:rPr>
                        <a:t>OneAddress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TEXT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Primary address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3654240017"/>
                  </a:ext>
                </a:extLst>
              </a:tr>
              <a:tr h="217567">
                <a:tc>
                  <a:txBody>
                    <a:bodyPr/>
                    <a:lstStyle/>
                    <a:p>
                      <a:pPr marL="0" marR="0">
                        <a:buNone/>
                      </a:pPr>
                      <a:r>
                        <a:rPr lang="en-US" sz="1600">
                          <a:effectLst/>
                        </a:rPr>
                        <a:t>TwoAddress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TEXT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Secondary address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2688200108"/>
                  </a:ext>
                </a:extLst>
              </a:tr>
              <a:tr h="217567">
                <a:tc>
                  <a:txBody>
                    <a:bodyPr/>
                    <a:lstStyle/>
                    <a:p>
                      <a:pPr marL="0" marR="0">
                        <a:buNone/>
                      </a:pPr>
                      <a:r>
                        <a:rPr lang="en-US" sz="1600">
                          <a:effectLst/>
                        </a:rPr>
                        <a:t>picture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VARCHAR(100)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Staff profile picture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3334010114"/>
                  </a:ext>
                </a:extLst>
              </a:tr>
              <a:tr h="217567">
                <a:tc>
                  <a:txBody>
                    <a:bodyPr/>
                    <a:lstStyle/>
                    <a:p>
                      <a:pPr marL="0" marR="0">
                        <a:buNone/>
                      </a:pPr>
                      <a:r>
                        <a:rPr lang="en-US" sz="1600">
                          <a:effectLst/>
                        </a:rPr>
                        <a:t>JoinDate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NOT 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Employment start 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165488302"/>
                  </a:ext>
                </a:extLst>
              </a:tr>
              <a:tr h="435134">
                <a:tc>
                  <a:txBody>
                    <a:bodyPr/>
                    <a:lstStyle/>
                    <a:p>
                      <a:pPr marL="0" marR="0">
                        <a:buNone/>
                      </a:pPr>
                      <a:r>
                        <a:rPr lang="en-US" sz="1600">
                          <a:effectLst/>
                        </a:rPr>
                        <a:t>LeaveDate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DATE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Employment end date (if applicable)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3740019273"/>
                  </a:ext>
                </a:extLst>
              </a:tr>
              <a:tr h="217567">
                <a:tc>
                  <a:txBody>
                    <a:bodyPr/>
                    <a:lstStyle/>
                    <a:p>
                      <a:pPr marL="0" marR="0">
                        <a:buNone/>
                      </a:pPr>
                      <a:r>
                        <a:rPr lang="en-US" sz="1600">
                          <a:effectLst/>
                        </a:rPr>
                        <a:t>aboutme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TEXT</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a:effectLst/>
                        </a:rPr>
                        <a:t>NULL</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tc>
                  <a:txBody>
                    <a:bodyPr/>
                    <a:lstStyle/>
                    <a:p>
                      <a:pPr marL="0" marR="0">
                        <a:buNone/>
                      </a:pPr>
                      <a:r>
                        <a:rPr lang="en-US" sz="1600" dirty="0">
                          <a:effectLst/>
                        </a:rPr>
                        <a:t>Staff biography/description</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61191" marR="61191" marT="0" marB="0"/>
                </a:tc>
                <a:extLst>
                  <a:ext uri="{0D108BD9-81ED-4DB2-BD59-A6C34878D82A}">
                    <a16:rowId xmlns:a16="http://schemas.microsoft.com/office/drawing/2014/main" val="630540976"/>
                  </a:ext>
                </a:extLst>
              </a:tr>
            </a:tbl>
          </a:graphicData>
        </a:graphic>
      </p:graphicFrame>
    </p:spTree>
    <p:extLst>
      <p:ext uri="{BB962C8B-B14F-4D97-AF65-F5344CB8AC3E}">
        <p14:creationId xmlns:p14="http://schemas.microsoft.com/office/powerpoint/2010/main" val="952129664"/>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26E085-170A-2A19-6273-10D64B7EEE05}"/>
              </a:ext>
            </a:extLst>
          </p:cNvPr>
          <p:cNvSpPr txBox="1"/>
          <p:nvPr/>
        </p:nvSpPr>
        <p:spPr>
          <a:xfrm>
            <a:off x="4629873" y="358815"/>
            <a:ext cx="2388283"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Table: Topic</a:t>
            </a:r>
          </a:p>
        </p:txBody>
      </p:sp>
      <p:graphicFrame>
        <p:nvGraphicFramePr>
          <p:cNvPr id="3" name="Table 2">
            <a:extLst>
              <a:ext uri="{FF2B5EF4-FFF2-40B4-BE49-F238E27FC236}">
                <a16:creationId xmlns:a16="http://schemas.microsoft.com/office/drawing/2014/main" id="{44E9EC17-4ED4-4F66-94ED-2EDEC87B6524}"/>
              </a:ext>
            </a:extLst>
          </p:cNvPr>
          <p:cNvGraphicFramePr>
            <a:graphicFrameLocks noGrp="1"/>
          </p:cNvGraphicFramePr>
          <p:nvPr>
            <p:extLst>
              <p:ext uri="{D42A27DB-BD31-4B8C-83A1-F6EECF244321}">
                <p14:modId xmlns:p14="http://schemas.microsoft.com/office/powerpoint/2010/main" val="2142362529"/>
              </p:ext>
            </p:extLst>
          </p:nvPr>
        </p:nvGraphicFramePr>
        <p:xfrm>
          <a:off x="838200" y="1689444"/>
          <a:ext cx="10515600" cy="329184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1500873585"/>
                    </a:ext>
                  </a:extLst>
                </a:gridCol>
                <a:gridCol w="2628900">
                  <a:extLst>
                    <a:ext uri="{9D8B030D-6E8A-4147-A177-3AD203B41FA5}">
                      <a16:colId xmlns:a16="http://schemas.microsoft.com/office/drawing/2014/main" val="1125099028"/>
                    </a:ext>
                  </a:extLst>
                </a:gridCol>
                <a:gridCol w="2628900">
                  <a:extLst>
                    <a:ext uri="{9D8B030D-6E8A-4147-A177-3AD203B41FA5}">
                      <a16:colId xmlns:a16="http://schemas.microsoft.com/office/drawing/2014/main" val="2293206394"/>
                    </a:ext>
                  </a:extLst>
                </a:gridCol>
                <a:gridCol w="2628900">
                  <a:extLst>
                    <a:ext uri="{9D8B030D-6E8A-4147-A177-3AD203B41FA5}">
                      <a16:colId xmlns:a16="http://schemas.microsoft.com/office/drawing/2014/main" val="3019379475"/>
                    </a:ext>
                  </a:extLst>
                </a:gridCol>
              </a:tblGrid>
              <a:tr h="0">
                <a:tc>
                  <a:txBody>
                    <a:bodyPr/>
                    <a:lstStyle/>
                    <a:p>
                      <a:pPr marL="0" marR="0" algn="ctr">
                        <a:buNone/>
                      </a:pPr>
                      <a:r>
                        <a:rPr lang="en-US" sz="2400">
                          <a:effectLst/>
                        </a:rPr>
                        <a:t>Column Name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Data Type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Constraints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Description</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767976758"/>
                  </a:ext>
                </a:extLst>
              </a:tr>
              <a:tr h="0">
                <a:tc>
                  <a:txBody>
                    <a:bodyPr/>
                    <a:lstStyle/>
                    <a:p>
                      <a:pPr marL="0" marR="0" algn="ctr">
                        <a:buNone/>
                      </a:pPr>
                      <a:r>
                        <a:rPr lang="en-US" sz="2400">
                          <a:effectLst/>
                        </a:rPr>
                        <a:t>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PRIMARY KEY, AUTO_INCREMENT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Unique topic identifier</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732149278"/>
                  </a:ext>
                </a:extLst>
              </a:tr>
              <a:tr h="0">
                <a:tc>
                  <a:txBody>
                    <a:bodyPr/>
                    <a:lstStyle/>
                    <a:p>
                      <a:pPr marL="0" marR="0" algn="ctr">
                        <a:buNone/>
                      </a:pPr>
                      <a:r>
                        <a:rPr lang="en-US" sz="2400">
                          <a:effectLst/>
                        </a:rPr>
                        <a:t>Topic</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VARCHAR(20)</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dirty="0">
                          <a:effectLst/>
                        </a:rPr>
                        <a:t>UNIQUE, NOT NULL</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Topic name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21141036"/>
                  </a:ext>
                </a:extLst>
              </a:tr>
              <a:tr h="0">
                <a:tc>
                  <a:txBody>
                    <a:bodyPr/>
                    <a:lstStyle/>
                    <a:p>
                      <a:pPr marL="0" marR="0" algn="ctr">
                        <a:buNone/>
                      </a:pPr>
                      <a:r>
                        <a:rPr lang="en-US" sz="2400">
                          <a:effectLst/>
                        </a:rPr>
                        <a:t>Date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DATE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DEFAULT CURRENT_DATE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Topic creation date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561996692"/>
                  </a:ext>
                </a:extLst>
              </a:tr>
              <a:tr h="0">
                <a:tc>
                  <a:txBody>
                    <a:bodyPr/>
                    <a:lstStyle/>
                    <a:p>
                      <a:pPr marL="0" marR="0" algn="ctr">
                        <a:buNone/>
                      </a:pPr>
                      <a:r>
                        <a:rPr lang="en-US" sz="2400">
                          <a:effectLst/>
                        </a:rPr>
                        <a:t>CreatedBy_id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a:effectLst/>
                        </a:rPr>
                        <a:t>NOT NULL, FOREIGN KEY (StaffMember.id)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lgn="ctr">
                        <a:buNone/>
                      </a:pPr>
                      <a:r>
                        <a:rPr lang="en-US" sz="2400" dirty="0">
                          <a:effectLst/>
                        </a:rPr>
                        <a:t>Staff who created the topic</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5039674"/>
                  </a:ext>
                </a:extLst>
              </a:tr>
            </a:tbl>
          </a:graphicData>
        </a:graphic>
      </p:graphicFrame>
    </p:spTree>
    <p:extLst>
      <p:ext uri="{BB962C8B-B14F-4D97-AF65-F5344CB8AC3E}">
        <p14:creationId xmlns:p14="http://schemas.microsoft.com/office/powerpoint/2010/main" val="2167540839"/>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4C85B5-2B1E-AA42-9DFC-A5AC68ED5C3E}"/>
              </a:ext>
            </a:extLst>
          </p:cNvPr>
          <p:cNvSpPr txBox="1"/>
          <p:nvPr/>
        </p:nvSpPr>
        <p:spPr>
          <a:xfrm>
            <a:off x="4572000" y="277792"/>
            <a:ext cx="2301464" cy="523220"/>
          </a:xfrm>
          <a:prstGeom prst="rect">
            <a:avLst/>
          </a:prstGeom>
          <a:noFill/>
        </p:spPr>
        <p:txBody>
          <a:bodyPr wrap="none" rtlCol="0">
            <a:spAutoFit/>
          </a:bodyPr>
          <a:lstStyle/>
          <a:p>
            <a:pPr marL="285750" indent="-285750">
              <a:buFont typeface="Wingdings" panose="05000000000000000000" pitchFamily="2" charset="2"/>
              <a:buChar char="v"/>
            </a:pPr>
            <a:r>
              <a:rPr lang="en-US" sz="2800" b="1" dirty="0"/>
              <a:t>Table: News</a:t>
            </a:r>
          </a:p>
        </p:txBody>
      </p:sp>
      <p:graphicFrame>
        <p:nvGraphicFramePr>
          <p:cNvPr id="3" name="Table 2">
            <a:extLst>
              <a:ext uri="{FF2B5EF4-FFF2-40B4-BE49-F238E27FC236}">
                <a16:creationId xmlns:a16="http://schemas.microsoft.com/office/drawing/2014/main" id="{40B3837B-35FA-C913-B405-43EA8C5F56B4}"/>
              </a:ext>
            </a:extLst>
          </p:cNvPr>
          <p:cNvGraphicFramePr>
            <a:graphicFrameLocks noGrp="1"/>
          </p:cNvGraphicFramePr>
          <p:nvPr>
            <p:extLst>
              <p:ext uri="{D42A27DB-BD31-4B8C-83A1-F6EECF244321}">
                <p14:modId xmlns:p14="http://schemas.microsoft.com/office/powerpoint/2010/main" val="2121173594"/>
              </p:ext>
            </p:extLst>
          </p:nvPr>
        </p:nvGraphicFramePr>
        <p:xfrm>
          <a:off x="1032076" y="1253329"/>
          <a:ext cx="10127848" cy="4762251"/>
        </p:xfrm>
        <a:graphic>
          <a:graphicData uri="http://schemas.openxmlformats.org/drawingml/2006/table">
            <a:tbl>
              <a:tblPr firstRow="1" firstCol="1" bandRow="1">
                <a:tableStyleId>{616DA210-FB5B-4158-B5E0-FEB733F419BA}</a:tableStyleId>
              </a:tblPr>
              <a:tblGrid>
                <a:gridCol w="2531962">
                  <a:extLst>
                    <a:ext uri="{9D8B030D-6E8A-4147-A177-3AD203B41FA5}">
                      <a16:colId xmlns:a16="http://schemas.microsoft.com/office/drawing/2014/main" val="1308784612"/>
                    </a:ext>
                  </a:extLst>
                </a:gridCol>
                <a:gridCol w="2531962">
                  <a:extLst>
                    <a:ext uri="{9D8B030D-6E8A-4147-A177-3AD203B41FA5}">
                      <a16:colId xmlns:a16="http://schemas.microsoft.com/office/drawing/2014/main" val="2082395722"/>
                    </a:ext>
                  </a:extLst>
                </a:gridCol>
                <a:gridCol w="2531962">
                  <a:extLst>
                    <a:ext uri="{9D8B030D-6E8A-4147-A177-3AD203B41FA5}">
                      <a16:colId xmlns:a16="http://schemas.microsoft.com/office/drawing/2014/main" val="824797713"/>
                    </a:ext>
                  </a:extLst>
                </a:gridCol>
                <a:gridCol w="2531962">
                  <a:extLst>
                    <a:ext uri="{9D8B030D-6E8A-4147-A177-3AD203B41FA5}">
                      <a16:colId xmlns:a16="http://schemas.microsoft.com/office/drawing/2014/main" val="1408778853"/>
                    </a:ext>
                  </a:extLst>
                </a:gridCol>
              </a:tblGrid>
              <a:tr h="189189">
                <a:tc>
                  <a:txBody>
                    <a:bodyPr/>
                    <a:lstStyle/>
                    <a:p>
                      <a:pPr marL="0" marR="0" algn="l">
                        <a:buNone/>
                      </a:pPr>
                      <a:r>
                        <a:rPr lang="en-US" sz="1400">
                          <a:effectLst/>
                        </a:rPr>
                        <a:t>Column Name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Data Type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Constraints</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Description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4090904170"/>
                  </a:ext>
                </a:extLst>
              </a:tr>
              <a:tr h="378377">
                <a:tc>
                  <a:txBody>
                    <a:bodyPr/>
                    <a:lstStyle/>
                    <a:p>
                      <a:pPr marL="0" marR="0" algn="l">
                        <a:buNone/>
                      </a:pPr>
                      <a:r>
                        <a:rPr lang="en-US" sz="1400">
                          <a:effectLst/>
                        </a:rPr>
                        <a:t>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INT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PRIMARY KEY, AUTO_INCREMENT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Unique news identifier</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286424624"/>
                  </a:ext>
                </a:extLst>
              </a:tr>
              <a:tr h="378377">
                <a:tc>
                  <a:txBody>
                    <a:bodyPr/>
                    <a:lstStyle/>
                    <a:p>
                      <a:pPr marL="0" marR="0" algn="l">
                        <a:buNone/>
                      </a:pPr>
                      <a:r>
                        <a:rPr lang="en-US" sz="1400">
                          <a:effectLst/>
                        </a:rPr>
                        <a:t>Topic_id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INT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 FOREIGN KEY (Topic.id)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News topic/category</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358616611"/>
                  </a:ext>
                </a:extLst>
              </a:tr>
              <a:tr h="378377">
                <a:tc>
                  <a:txBody>
                    <a:bodyPr/>
                    <a:lstStyle/>
                    <a:p>
                      <a:pPr marL="0" marR="0" algn="l">
                        <a:buNone/>
                      </a:pPr>
                      <a:r>
                        <a:rPr lang="en-US" sz="1400">
                          <a:effectLst/>
                        </a:rPr>
                        <a:t>Journalists_id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INT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 FOREIGN KEY (StaffMember.id)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Journalist staff member</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690751547"/>
                  </a:ext>
                </a:extLst>
              </a:tr>
              <a:tr h="378377">
                <a:tc>
                  <a:txBody>
                    <a:bodyPr/>
                    <a:lstStyle/>
                    <a:p>
                      <a:pPr marL="0" marR="0" algn="l">
                        <a:buNone/>
                      </a:pPr>
                      <a:r>
                        <a:rPr lang="en-US" sz="1400">
                          <a:effectLst/>
                        </a:rPr>
                        <a:t>Writers_id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INT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 FOREIGN KEY (StaffMember.id)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Writer staff member</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2989277916"/>
                  </a:ext>
                </a:extLst>
              </a:tr>
              <a:tr h="378377">
                <a:tc>
                  <a:txBody>
                    <a:bodyPr/>
                    <a:lstStyle/>
                    <a:p>
                      <a:pPr marL="0" marR="0" algn="l">
                        <a:buNone/>
                      </a:pPr>
                      <a:r>
                        <a:rPr lang="en-US" sz="1400">
                          <a:effectLst/>
                        </a:rPr>
                        <a:t>Editors_id</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INT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dirty="0">
                          <a:effectLst/>
                        </a:rPr>
                        <a:t>NULL, FOREIGN KEY (StaffMember.id)</a:t>
                      </a:r>
                      <a:endParaRPr lang="en-US" sz="1000" dirty="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Editor staff member</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82062391"/>
                  </a:ext>
                </a:extLst>
              </a:tr>
              <a:tr h="189189">
                <a:tc>
                  <a:txBody>
                    <a:bodyPr/>
                    <a:lstStyle/>
                    <a:p>
                      <a:pPr marL="0" marR="0" algn="l">
                        <a:buNone/>
                      </a:pPr>
                      <a:r>
                        <a:rPr lang="en-US" sz="1400">
                          <a:effectLst/>
                        </a:rPr>
                        <a:t>NewsTitle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VARCHAR(250)</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News article title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3038952"/>
                  </a:ext>
                </a:extLst>
              </a:tr>
              <a:tr h="189189">
                <a:tc>
                  <a:txBody>
                    <a:bodyPr/>
                    <a:lstStyle/>
                    <a:p>
                      <a:pPr marL="0" marR="0" algn="l">
                        <a:buNone/>
                      </a:pPr>
                      <a:r>
                        <a:rPr lang="en-US" sz="1400">
                          <a:effectLst/>
                        </a:rPr>
                        <a:t>Txt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LONGTEXT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News article content</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512449160"/>
                  </a:ext>
                </a:extLst>
              </a:tr>
              <a:tr h="189189">
                <a:tc>
                  <a:txBody>
                    <a:bodyPr/>
                    <a:lstStyle/>
                    <a:p>
                      <a:pPr marL="0" marR="0" algn="l">
                        <a:buNone/>
                      </a:pPr>
                      <a:r>
                        <a:rPr lang="en-US" sz="1400">
                          <a:effectLst/>
                        </a:rPr>
                        <a:t>Image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VARCHAR(100)</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Primary image file path</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1025287528"/>
                  </a:ext>
                </a:extLst>
              </a:tr>
              <a:tr h="189189">
                <a:tc>
                  <a:txBody>
                    <a:bodyPr/>
                    <a:lstStyle/>
                    <a:p>
                      <a:pPr marL="0" marR="0" algn="l">
                        <a:buNone/>
                      </a:pPr>
                      <a:r>
                        <a:rPr lang="en-US" sz="1400">
                          <a:effectLst/>
                        </a:rPr>
                        <a:t>Video</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dirty="0">
                          <a:effectLst/>
                        </a:rPr>
                        <a:t>VARCHAR(100)</a:t>
                      </a:r>
                      <a:endParaRPr lang="en-US" sz="1000" dirty="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Video file path</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537180651"/>
                  </a:ext>
                </a:extLst>
              </a:tr>
              <a:tr h="189189">
                <a:tc>
                  <a:txBody>
                    <a:bodyPr/>
                    <a:lstStyle/>
                    <a:p>
                      <a:pPr marL="0" marR="0" algn="l">
                        <a:buNone/>
                      </a:pPr>
                      <a:r>
                        <a:rPr lang="en-US" sz="1400">
                          <a:effectLst/>
                        </a:rPr>
                        <a:t>CreatDate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DATE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DEFAULT CURRENT_DATE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Creation date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4101188566"/>
                  </a:ext>
                </a:extLst>
              </a:tr>
              <a:tr h="378377">
                <a:tc>
                  <a:txBody>
                    <a:bodyPr/>
                    <a:lstStyle/>
                    <a:p>
                      <a:pPr marL="0" marR="0" algn="l">
                        <a:buNone/>
                      </a:pPr>
                      <a:r>
                        <a:rPr lang="en-US" sz="1400">
                          <a:effectLst/>
                        </a:rPr>
                        <a:t>onlyvideo</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BOOLEAN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DEFAULT FALSE</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Whether content is video-only</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4263236441"/>
                  </a:ext>
                </a:extLst>
              </a:tr>
              <a:tr h="189189">
                <a:tc>
                  <a:txBody>
                    <a:bodyPr/>
                    <a:lstStyle/>
                    <a:p>
                      <a:pPr marL="0" marR="0" algn="l">
                        <a:buNone/>
                      </a:pPr>
                      <a:r>
                        <a:rPr lang="en-US" sz="1400">
                          <a:effectLst/>
                        </a:rPr>
                        <a:t>JournalistsPermission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BOOLEAN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Journalist approval status</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2461626946"/>
                  </a:ext>
                </a:extLst>
              </a:tr>
              <a:tr h="189189">
                <a:tc>
                  <a:txBody>
                    <a:bodyPr/>
                    <a:lstStyle/>
                    <a:p>
                      <a:pPr marL="0" marR="0" algn="l">
                        <a:buNone/>
                      </a:pPr>
                      <a:r>
                        <a:rPr lang="en-US" sz="1400">
                          <a:effectLst/>
                        </a:rPr>
                        <a:t>WritersPermission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BOOLEAN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Writer approval status</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4292715232"/>
                  </a:ext>
                </a:extLst>
              </a:tr>
              <a:tr h="189189">
                <a:tc>
                  <a:txBody>
                    <a:bodyPr/>
                    <a:lstStyle/>
                    <a:p>
                      <a:pPr marL="0" marR="0" algn="l">
                        <a:buNone/>
                      </a:pPr>
                      <a:r>
                        <a:rPr lang="en-US" sz="1400">
                          <a:effectLst/>
                        </a:rPr>
                        <a:t>EditorsPermission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BOOLEAN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Editor approval status</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79179974"/>
                  </a:ext>
                </a:extLst>
              </a:tr>
              <a:tr h="189189">
                <a:tc>
                  <a:txBody>
                    <a:bodyPr/>
                    <a:lstStyle/>
                    <a:p>
                      <a:pPr marL="0" marR="0" algn="l">
                        <a:buNone/>
                      </a:pPr>
                      <a:r>
                        <a:rPr lang="en-US" sz="1400">
                          <a:effectLst/>
                        </a:rPr>
                        <a:t>ManagersPermission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BOOLEAN</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Manager approval status</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3782331894"/>
                  </a:ext>
                </a:extLst>
              </a:tr>
              <a:tr h="189189">
                <a:tc>
                  <a:txBody>
                    <a:bodyPr/>
                    <a:lstStyle/>
                    <a:p>
                      <a:pPr marL="0" marR="0" algn="l">
                        <a:buNone/>
                      </a:pPr>
                      <a:r>
                        <a:rPr lang="en-US" sz="1400">
                          <a:effectLst/>
                        </a:rPr>
                        <a:t>slug</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VARCHAR(255)</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a:effectLst/>
                        </a:rPr>
                        <a:t>NULL</a:t>
                      </a:r>
                      <a:endParaRPr lang="en-US" sz="100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tc>
                  <a:txBody>
                    <a:bodyPr/>
                    <a:lstStyle/>
                    <a:p>
                      <a:pPr marL="0" marR="0" algn="l">
                        <a:buNone/>
                      </a:pPr>
                      <a:r>
                        <a:rPr lang="en-US" sz="1400" dirty="0">
                          <a:effectLst/>
                        </a:rPr>
                        <a:t>URL-friendly identifier</a:t>
                      </a:r>
                      <a:endParaRPr lang="en-US" sz="1000" dirty="0">
                        <a:effectLst/>
                        <a:latin typeface="Cambria" panose="02040503050406030204" pitchFamily="18" charset="0"/>
                        <a:ea typeface="Cambria" panose="02040503050406030204" pitchFamily="18" charset="0"/>
                        <a:cs typeface="Cambria" panose="02040503050406030204" pitchFamily="18" charset="0"/>
                      </a:endParaRPr>
                    </a:p>
                  </a:txBody>
                  <a:tcPr marL="53209" marR="53209" marT="0" marB="0"/>
                </a:tc>
                <a:extLst>
                  <a:ext uri="{0D108BD9-81ED-4DB2-BD59-A6C34878D82A}">
                    <a16:rowId xmlns:a16="http://schemas.microsoft.com/office/drawing/2014/main" val="2144704214"/>
                  </a:ext>
                </a:extLst>
              </a:tr>
            </a:tbl>
          </a:graphicData>
        </a:graphic>
      </p:graphicFrame>
    </p:spTree>
    <p:extLst>
      <p:ext uri="{BB962C8B-B14F-4D97-AF65-F5344CB8AC3E}">
        <p14:creationId xmlns:p14="http://schemas.microsoft.com/office/powerpoint/2010/main" val="399732725"/>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D8BE71-B5FF-B804-C740-8608F0453E9A}"/>
              </a:ext>
            </a:extLst>
          </p:cNvPr>
          <p:cNvSpPr txBox="1"/>
          <p:nvPr/>
        </p:nvSpPr>
        <p:spPr>
          <a:xfrm>
            <a:off x="4618299" y="544010"/>
            <a:ext cx="2633670"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Table: Report</a:t>
            </a:r>
          </a:p>
        </p:txBody>
      </p:sp>
      <p:graphicFrame>
        <p:nvGraphicFramePr>
          <p:cNvPr id="3" name="Table 2">
            <a:extLst>
              <a:ext uri="{FF2B5EF4-FFF2-40B4-BE49-F238E27FC236}">
                <a16:creationId xmlns:a16="http://schemas.microsoft.com/office/drawing/2014/main" id="{1A82CC78-DAA3-097B-CCFF-61B30069FCFC}"/>
              </a:ext>
            </a:extLst>
          </p:cNvPr>
          <p:cNvGraphicFramePr>
            <a:graphicFrameLocks noGrp="1"/>
          </p:cNvGraphicFramePr>
          <p:nvPr>
            <p:extLst>
              <p:ext uri="{D42A27DB-BD31-4B8C-83A1-F6EECF244321}">
                <p14:modId xmlns:p14="http://schemas.microsoft.com/office/powerpoint/2010/main" val="357599859"/>
              </p:ext>
            </p:extLst>
          </p:nvPr>
        </p:nvGraphicFramePr>
        <p:xfrm>
          <a:off x="677334" y="1636200"/>
          <a:ext cx="10515600" cy="335280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4130471377"/>
                    </a:ext>
                  </a:extLst>
                </a:gridCol>
                <a:gridCol w="2628900">
                  <a:extLst>
                    <a:ext uri="{9D8B030D-6E8A-4147-A177-3AD203B41FA5}">
                      <a16:colId xmlns:a16="http://schemas.microsoft.com/office/drawing/2014/main" val="574524085"/>
                    </a:ext>
                  </a:extLst>
                </a:gridCol>
                <a:gridCol w="2628900">
                  <a:extLst>
                    <a:ext uri="{9D8B030D-6E8A-4147-A177-3AD203B41FA5}">
                      <a16:colId xmlns:a16="http://schemas.microsoft.com/office/drawing/2014/main" val="3598886853"/>
                    </a:ext>
                  </a:extLst>
                </a:gridCol>
                <a:gridCol w="2628900">
                  <a:extLst>
                    <a:ext uri="{9D8B030D-6E8A-4147-A177-3AD203B41FA5}">
                      <a16:colId xmlns:a16="http://schemas.microsoft.com/office/drawing/2014/main" val="2919925689"/>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739413234"/>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report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665418774"/>
                  </a:ext>
                </a:extLst>
              </a:tr>
              <a:tr h="0">
                <a:tc>
                  <a:txBody>
                    <a:bodyPr/>
                    <a:lstStyle/>
                    <a:p>
                      <a:pPr marL="0" marR="0">
                        <a:buNone/>
                      </a:pPr>
                      <a:r>
                        <a:rPr lang="en-US" sz="2000">
                          <a:effectLst/>
                        </a:rPr>
                        <a:t>News_id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NOT NULL, FOREIGN KEY (News.id)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Reported news article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49828477"/>
                  </a:ext>
                </a:extLst>
              </a:tr>
              <a:tr h="0">
                <a:tc>
                  <a:txBody>
                    <a:bodyPr/>
                    <a:lstStyle/>
                    <a:p>
                      <a:pPr marL="0" marR="0">
                        <a:buNone/>
                      </a:pPr>
                      <a:r>
                        <a:rPr lang="en-US" sz="2000">
                          <a:effectLst/>
                        </a:rPr>
                        <a:t>user_id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NOT NULL, FOREIGN KEY (auth_user.id)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User who submitted report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340014254"/>
                  </a:ext>
                </a:extLst>
              </a:tr>
              <a:tr h="0">
                <a:tc>
                  <a:txBody>
                    <a:bodyPr/>
                    <a:lstStyle/>
                    <a:p>
                      <a:pPr marL="0" marR="0">
                        <a:buNone/>
                      </a:pPr>
                      <a:r>
                        <a:rPr lang="en-US" sz="2000">
                          <a:effectLst/>
                        </a:rPr>
                        <a:t>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VARCHAR(75)</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Report 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248723529"/>
                  </a:ext>
                </a:extLst>
              </a:tr>
              <a:tr h="0">
                <a:tc>
                  <a:txBody>
                    <a:bodyPr/>
                    <a:lstStyle/>
                    <a:p>
                      <a:pPr marL="0" marR="0">
                        <a:buNone/>
                      </a:pPr>
                      <a:r>
                        <a:rPr lang="en-US" sz="2000">
                          <a:effectLst/>
                        </a:rPr>
                        <a:t>Txt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Report details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477696850"/>
                  </a:ext>
                </a:extLst>
              </a:tr>
              <a:tr h="0">
                <a:tc>
                  <a:txBody>
                    <a:bodyPr/>
                    <a:lstStyle/>
                    <a:p>
                      <a:pPr marL="0" marR="0">
                        <a:buNone/>
                      </a:pPr>
                      <a:r>
                        <a:rPr lang="en-US" sz="2000">
                          <a:effectLst/>
                        </a:rPr>
                        <a:t>slug</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VARCHAR(255)</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URL-friendly identifier</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693155476"/>
                  </a:ext>
                </a:extLst>
              </a:tr>
            </a:tbl>
          </a:graphicData>
        </a:graphic>
      </p:graphicFrame>
    </p:spTree>
    <p:extLst>
      <p:ext uri="{BB962C8B-B14F-4D97-AF65-F5344CB8AC3E}">
        <p14:creationId xmlns:p14="http://schemas.microsoft.com/office/powerpoint/2010/main" val="161129824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C76AD8-7888-818D-16C1-9A0707855046}"/>
              </a:ext>
            </a:extLst>
          </p:cNvPr>
          <p:cNvSpPr txBox="1"/>
          <p:nvPr/>
        </p:nvSpPr>
        <p:spPr>
          <a:xfrm>
            <a:off x="4409954" y="914400"/>
            <a:ext cx="2531655"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Table: </a:t>
            </a:r>
            <a:r>
              <a:rPr lang="en-US" sz="2400" b="1" dirty="0" err="1"/>
              <a:t>newsLike</a:t>
            </a:r>
            <a:endParaRPr lang="en-US" sz="2400" b="1" dirty="0"/>
          </a:p>
        </p:txBody>
      </p:sp>
      <p:graphicFrame>
        <p:nvGraphicFramePr>
          <p:cNvPr id="4" name="Table 3">
            <a:extLst>
              <a:ext uri="{FF2B5EF4-FFF2-40B4-BE49-F238E27FC236}">
                <a16:creationId xmlns:a16="http://schemas.microsoft.com/office/drawing/2014/main" id="{F3D428D8-AF98-AD1D-B34B-509467974AD7}"/>
              </a:ext>
            </a:extLst>
          </p:cNvPr>
          <p:cNvGraphicFramePr>
            <a:graphicFrameLocks noGrp="1"/>
          </p:cNvGraphicFramePr>
          <p:nvPr>
            <p:extLst>
              <p:ext uri="{D42A27DB-BD31-4B8C-83A1-F6EECF244321}">
                <p14:modId xmlns:p14="http://schemas.microsoft.com/office/powerpoint/2010/main" val="2083248975"/>
              </p:ext>
            </p:extLst>
          </p:nvPr>
        </p:nvGraphicFramePr>
        <p:xfrm>
          <a:off x="838200" y="1619996"/>
          <a:ext cx="10515600" cy="213360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828038717"/>
                    </a:ext>
                  </a:extLst>
                </a:gridCol>
                <a:gridCol w="2628900">
                  <a:extLst>
                    <a:ext uri="{9D8B030D-6E8A-4147-A177-3AD203B41FA5}">
                      <a16:colId xmlns:a16="http://schemas.microsoft.com/office/drawing/2014/main" val="507412109"/>
                    </a:ext>
                  </a:extLst>
                </a:gridCol>
                <a:gridCol w="2628900">
                  <a:extLst>
                    <a:ext uri="{9D8B030D-6E8A-4147-A177-3AD203B41FA5}">
                      <a16:colId xmlns:a16="http://schemas.microsoft.com/office/drawing/2014/main" val="1751047775"/>
                    </a:ext>
                  </a:extLst>
                </a:gridCol>
                <a:gridCol w="2628900">
                  <a:extLst>
                    <a:ext uri="{9D8B030D-6E8A-4147-A177-3AD203B41FA5}">
                      <a16:colId xmlns:a16="http://schemas.microsoft.com/office/drawing/2014/main" val="2606039866"/>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500999409"/>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INT</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relationship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78863833"/>
                  </a:ext>
                </a:extLst>
              </a:tr>
              <a:tr h="0">
                <a:tc>
                  <a:txBody>
                    <a:bodyPr/>
                    <a:lstStyle/>
                    <a:p>
                      <a:pPr marL="0" marR="0">
                        <a:buNone/>
                      </a:pPr>
                      <a:r>
                        <a:rPr lang="en-US" sz="2000">
                          <a:effectLst/>
                        </a:rPr>
                        <a:t>newslike_id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INT</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(newsLike.id)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Reference to like record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279890233"/>
                  </a:ext>
                </a:extLst>
              </a:tr>
              <a:tr h="0">
                <a:tc>
                  <a:txBody>
                    <a:bodyPr/>
                    <a:lstStyle/>
                    <a:p>
                      <a:pPr marL="0" marR="0">
                        <a:buNone/>
                      </a:pPr>
                      <a:r>
                        <a:rPr lang="en-US" sz="2000">
                          <a:effectLst/>
                        </a:rPr>
                        <a:t>user_id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(auth_user.id)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User who liked the news</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295328725"/>
                  </a:ext>
                </a:extLst>
              </a:tr>
            </a:tbl>
          </a:graphicData>
        </a:graphic>
      </p:graphicFrame>
    </p:spTree>
    <p:extLst>
      <p:ext uri="{BB962C8B-B14F-4D97-AF65-F5344CB8AC3E}">
        <p14:creationId xmlns:p14="http://schemas.microsoft.com/office/powerpoint/2010/main" val="267770619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9567E9-D11F-64F4-B078-9C34FBBFEA66}"/>
              </a:ext>
            </a:extLst>
          </p:cNvPr>
          <p:cNvSpPr txBox="1"/>
          <p:nvPr/>
        </p:nvSpPr>
        <p:spPr>
          <a:xfrm>
            <a:off x="3441056" y="462988"/>
            <a:ext cx="5309887" cy="584775"/>
          </a:xfrm>
          <a:prstGeom prst="rect">
            <a:avLst/>
          </a:prstGeom>
          <a:noFill/>
        </p:spPr>
        <p:txBody>
          <a:bodyPr wrap="square">
            <a:spAutoFit/>
          </a:bodyPr>
          <a:lstStyle/>
          <a:p>
            <a:pPr marL="342900" indent="-342900">
              <a:buFont typeface="Wingdings" panose="05000000000000000000" pitchFamily="2" charset="2"/>
              <a:buChar char="v"/>
            </a:pPr>
            <a:r>
              <a:rPr lang="en-US" sz="3200" b="1" dirty="0"/>
              <a:t>Table: </a:t>
            </a:r>
            <a:r>
              <a:rPr lang="en-US" sz="3200" b="1" dirty="0" err="1"/>
              <a:t>FollowingNewsTopic</a:t>
            </a:r>
            <a:endParaRPr lang="en-US" sz="3200" b="1" dirty="0"/>
          </a:p>
        </p:txBody>
      </p:sp>
      <p:graphicFrame>
        <p:nvGraphicFramePr>
          <p:cNvPr id="5" name="Table 4">
            <a:extLst>
              <a:ext uri="{FF2B5EF4-FFF2-40B4-BE49-F238E27FC236}">
                <a16:creationId xmlns:a16="http://schemas.microsoft.com/office/drawing/2014/main" id="{855BA25D-226B-C21F-FDCA-49FB8B537BDB}"/>
              </a:ext>
            </a:extLst>
          </p:cNvPr>
          <p:cNvGraphicFramePr>
            <a:graphicFrameLocks noGrp="1"/>
          </p:cNvGraphicFramePr>
          <p:nvPr>
            <p:extLst>
              <p:ext uri="{D42A27DB-BD31-4B8C-83A1-F6EECF244321}">
                <p14:modId xmlns:p14="http://schemas.microsoft.com/office/powerpoint/2010/main" val="912148588"/>
              </p:ext>
            </p:extLst>
          </p:nvPr>
        </p:nvGraphicFramePr>
        <p:xfrm>
          <a:off x="838199" y="2057400"/>
          <a:ext cx="10515600" cy="2743200"/>
        </p:xfrm>
        <a:graphic>
          <a:graphicData uri="http://schemas.openxmlformats.org/drawingml/2006/table">
            <a:tbl>
              <a:tblPr firstRow="1" firstCol="1" bandRow="1">
                <a:tableStyleId>{9D7B26C5-4107-4FEC-AEDC-1716B250A1EF}</a:tableStyleId>
              </a:tblPr>
              <a:tblGrid>
                <a:gridCol w="2628900">
                  <a:extLst>
                    <a:ext uri="{9D8B030D-6E8A-4147-A177-3AD203B41FA5}">
                      <a16:colId xmlns:a16="http://schemas.microsoft.com/office/drawing/2014/main" val="989824451"/>
                    </a:ext>
                  </a:extLst>
                </a:gridCol>
                <a:gridCol w="2628900">
                  <a:extLst>
                    <a:ext uri="{9D8B030D-6E8A-4147-A177-3AD203B41FA5}">
                      <a16:colId xmlns:a16="http://schemas.microsoft.com/office/drawing/2014/main" val="1632566678"/>
                    </a:ext>
                  </a:extLst>
                </a:gridCol>
                <a:gridCol w="2628900">
                  <a:extLst>
                    <a:ext uri="{9D8B030D-6E8A-4147-A177-3AD203B41FA5}">
                      <a16:colId xmlns:a16="http://schemas.microsoft.com/office/drawing/2014/main" val="3864694804"/>
                    </a:ext>
                  </a:extLst>
                </a:gridCol>
                <a:gridCol w="2628900">
                  <a:extLst>
                    <a:ext uri="{9D8B030D-6E8A-4147-A177-3AD203B41FA5}">
                      <a16:colId xmlns:a16="http://schemas.microsoft.com/office/drawing/2014/main" val="2740633986"/>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823633035"/>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relationship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15869851"/>
                  </a:ext>
                </a:extLst>
              </a:tr>
              <a:tr h="0">
                <a:tc>
                  <a:txBody>
                    <a:bodyPr/>
                    <a:lstStyle/>
                    <a:p>
                      <a:pPr marL="0" marR="0">
                        <a:buNone/>
                      </a:pPr>
                      <a:r>
                        <a:rPr lang="en-US" sz="2000">
                          <a:effectLst/>
                        </a:rPr>
                        <a:t>followingnewstopic_id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NOT NULL, FOREIGN KEY (FollowingNewsTopic.id)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Reference to follow record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507201162"/>
                  </a:ext>
                </a:extLst>
              </a:tr>
              <a:tr h="0">
                <a:tc>
                  <a:txBody>
                    <a:bodyPr/>
                    <a:lstStyle/>
                    <a:p>
                      <a:pPr marL="0" marR="0">
                        <a:buNone/>
                      </a:pPr>
                      <a:r>
                        <a:rPr lang="en-US" sz="2000">
                          <a:effectLst/>
                        </a:rPr>
                        <a:t>user_id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(auth_user.id)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User following the topic</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78281959"/>
                  </a:ext>
                </a:extLst>
              </a:tr>
            </a:tbl>
          </a:graphicData>
        </a:graphic>
      </p:graphicFrame>
    </p:spTree>
    <p:extLst>
      <p:ext uri="{BB962C8B-B14F-4D97-AF65-F5344CB8AC3E}">
        <p14:creationId xmlns:p14="http://schemas.microsoft.com/office/powerpoint/2010/main" val="3471812158"/>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169DC1-3504-B548-75BB-C6261BB4E7A7}"/>
              </a:ext>
            </a:extLst>
          </p:cNvPr>
          <p:cNvSpPr txBox="1"/>
          <p:nvPr/>
        </p:nvSpPr>
        <p:spPr>
          <a:xfrm>
            <a:off x="1759932" y="1006997"/>
            <a:ext cx="45719" cy="369332"/>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01B8B796-CF45-79B1-B9C4-CB5CD0195D52}"/>
              </a:ext>
            </a:extLst>
          </p:cNvPr>
          <p:cNvSpPr txBox="1"/>
          <p:nvPr/>
        </p:nvSpPr>
        <p:spPr>
          <a:xfrm>
            <a:off x="4051140" y="606888"/>
            <a:ext cx="3589894" cy="584775"/>
          </a:xfrm>
          <a:prstGeom prst="rect">
            <a:avLst/>
          </a:prstGeom>
          <a:noFill/>
        </p:spPr>
        <p:txBody>
          <a:bodyPr wrap="none" rtlCol="0">
            <a:spAutoFit/>
          </a:bodyPr>
          <a:lstStyle/>
          <a:p>
            <a:pPr marL="457200" indent="-457200">
              <a:buFont typeface="Wingdings" panose="05000000000000000000" pitchFamily="2" charset="2"/>
              <a:buChar char="v"/>
            </a:pPr>
            <a:r>
              <a:rPr lang="en-US" sz="3200" b="1" dirty="0"/>
              <a:t>Table: Comments</a:t>
            </a:r>
          </a:p>
        </p:txBody>
      </p:sp>
      <p:graphicFrame>
        <p:nvGraphicFramePr>
          <p:cNvPr id="4" name="Table 3">
            <a:extLst>
              <a:ext uri="{FF2B5EF4-FFF2-40B4-BE49-F238E27FC236}">
                <a16:creationId xmlns:a16="http://schemas.microsoft.com/office/drawing/2014/main" id="{6B799B68-88AD-3EC3-EB16-AA05666E913E}"/>
              </a:ext>
            </a:extLst>
          </p:cNvPr>
          <p:cNvGraphicFramePr>
            <a:graphicFrameLocks noGrp="1"/>
          </p:cNvGraphicFramePr>
          <p:nvPr>
            <p:extLst>
              <p:ext uri="{D42A27DB-BD31-4B8C-83A1-F6EECF244321}">
                <p14:modId xmlns:p14="http://schemas.microsoft.com/office/powerpoint/2010/main" val="3009088728"/>
              </p:ext>
            </p:extLst>
          </p:nvPr>
        </p:nvGraphicFramePr>
        <p:xfrm>
          <a:off x="838200" y="2180211"/>
          <a:ext cx="10515600" cy="3352800"/>
        </p:xfrm>
        <a:graphic>
          <a:graphicData uri="http://schemas.openxmlformats.org/drawingml/2006/table">
            <a:tbl>
              <a:tblPr firstRow="1" firstCol="1" bandRow="1">
                <a:tableStyleId>{9D7B26C5-4107-4FEC-AEDC-1716B250A1EF}</a:tableStyleId>
              </a:tblPr>
              <a:tblGrid>
                <a:gridCol w="2628900">
                  <a:extLst>
                    <a:ext uri="{9D8B030D-6E8A-4147-A177-3AD203B41FA5}">
                      <a16:colId xmlns:a16="http://schemas.microsoft.com/office/drawing/2014/main" val="4044134324"/>
                    </a:ext>
                  </a:extLst>
                </a:gridCol>
                <a:gridCol w="2628900">
                  <a:extLst>
                    <a:ext uri="{9D8B030D-6E8A-4147-A177-3AD203B41FA5}">
                      <a16:colId xmlns:a16="http://schemas.microsoft.com/office/drawing/2014/main" val="688217834"/>
                    </a:ext>
                  </a:extLst>
                </a:gridCol>
                <a:gridCol w="2628900">
                  <a:extLst>
                    <a:ext uri="{9D8B030D-6E8A-4147-A177-3AD203B41FA5}">
                      <a16:colId xmlns:a16="http://schemas.microsoft.com/office/drawing/2014/main" val="2213767979"/>
                    </a:ext>
                  </a:extLst>
                </a:gridCol>
                <a:gridCol w="2628900">
                  <a:extLst>
                    <a:ext uri="{9D8B030D-6E8A-4147-A177-3AD203B41FA5}">
                      <a16:colId xmlns:a16="http://schemas.microsoft.com/office/drawing/2014/main" val="1380477119"/>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286077814"/>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comment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2138248"/>
                  </a:ext>
                </a:extLst>
              </a:tr>
              <a:tr h="0">
                <a:tc>
                  <a:txBody>
                    <a:bodyPr/>
                    <a:lstStyle/>
                    <a:p>
                      <a:pPr marL="0" marR="0">
                        <a:buNone/>
                      </a:pPr>
                      <a:r>
                        <a:rPr lang="en-US" sz="2000">
                          <a:effectLst/>
                        </a:rPr>
                        <a:t>UserName_id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(auth_user.id)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User who commented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782594923"/>
                  </a:ext>
                </a:extLst>
              </a:tr>
              <a:tr h="0">
                <a:tc>
                  <a:txBody>
                    <a:bodyPr/>
                    <a:lstStyle/>
                    <a:p>
                      <a:pPr marL="0" marR="0">
                        <a:buNone/>
                      </a:pPr>
                      <a:r>
                        <a:rPr lang="en-US" sz="2000">
                          <a:effectLst/>
                        </a:rPr>
                        <a:t>news_id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NOT NULL, FOREIGN KEY (News.id)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News article being commented 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534210639"/>
                  </a:ext>
                </a:extLst>
              </a:tr>
              <a:tr h="0">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Comment content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712138226"/>
                  </a:ext>
                </a:extLst>
              </a:tr>
              <a:tr h="0">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DEFAULT CURRENT_DATE</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Comment 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35208118"/>
                  </a:ext>
                </a:extLst>
              </a:tr>
              <a:tr h="0">
                <a:tc>
                  <a:txBody>
                    <a:bodyPr/>
                    <a:lstStyle/>
                    <a:p>
                      <a:pPr marL="0" marR="0">
                        <a:buNone/>
                      </a:pPr>
                      <a:r>
                        <a:rPr lang="en-US" sz="2000">
                          <a:effectLst/>
                        </a:rPr>
                        <a:t>slug</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VARCHAR(255)</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URL-friendly identifier</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54580847"/>
                  </a:ext>
                </a:extLst>
              </a:tr>
            </a:tbl>
          </a:graphicData>
        </a:graphic>
      </p:graphicFrame>
    </p:spTree>
    <p:extLst>
      <p:ext uri="{BB962C8B-B14F-4D97-AF65-F5344CB8AC3E}">
        <p14:creationId xmlns:p14="http://schemas.microsoft.com/office/powerpoint/2010/main" val="3072690914"/>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05EF41-31E6-FA8D-4668-9AE8DB8D8C54}"/>
              </a:ext>
            </a:extLst>
          </p:cNvPr>
          <p:cNvSpPr txBox="1"/>
          <p:nvPr/>
        </p:nvSpPr>
        <p:spPr>
          <a:xfrm>
            <a:off x="3345084" y="625033"/>
            <a:ext cx="5180072" cy="461665"/>
          </a:xfrm>
          <a:prstGeom prst="rect">
            <a:avLst/>
          </a:prstGeom>
          <a:noFill/>
        </p:spPr>
        <p:txBody>
          <a:bodyPr wrap="none" rtlCol="0">
            <a:spAutoFit/>
          </a:bodyPr>
          <a:lstStyle/>
          <a:p>
            <a:pPr marL="342900" indent="-342900">
              <a:buFont typeface="Wingdings" panose="05000000000000000000" pitchFamily="2" charset="2"/>
              <a:buChar char="v"/>
            </a:pPr>
            <a:r>
              <a:rPr lang="en-US" sz="2400" b="1" dirty="0"/>
              <a:t>Table: </a:t>
            </a:r>
            <a:r>
              <a:rPr lang="en-US" sz="2400" b="1" dirty="0" err="1"/>
              <a:t>multipleNewsImageAndVideo</a:t>
            </a:r>
            <a:endParaRPr lang="en-US" sz="2400" b="1" dirty="0"/>
          </a:p>
        </p:txBody>
      </p:sp>
      <p:graphicFrame>
        <p:nvGraphicFramePr>
          <p:cNvPr id="3" name="Table 2">
            <a:extLst>
              <a:ext uri="{FF2B5EF4-FFF2-40B4-BE49-F238E27FC236}">
                <a16:creationId xmlns:a16="http://schemas.microsoft.com/office/drawing/2014/main" id="{B3DBEDFB-CB16-1EF1-2414-A07D95A32857}"/>
              </a:ext>
            </a:extLst>
          </p:cNvPr>
          <p:cNvGraphicFramePr>
            <a:graphicFrameLocks noGrp="1"/>
          </p:cNvGraphicFramePr>
          <p:nvPr>
            <p:extLst>
              <p:ext uri="{D42A27DB-BD31-4B8C-83A1-F6EECF244321}">
                <p14:modId xmlns:p14="http://schemas.microsoft.com/office/powerpoint/2010/main" val="2181446665"/>
              </p:ext>
            </p:extLst>
          </p:nvPr>
        </p:nvGraphicFramePr>
        <p:xfrm>
          <a:off x="838200" y="2175580"/>
          <a:ext cx="10515600" cy="274320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1677514683"/>
                    </a:ext>
                  </a:extLst>
                </a:gridCol>
                <a:gridCol w="2628900">
                  <a:extLst>
                    <a:ext uri="{9D8B030D-6E8A-4147-A177-3AD203B41FA5}">
                      <a16:colId xmlns:a16="http://schemas.microsoft.com/office/drawing/2014/main" val="1539614478"/>
                    </a:ext>
                  </a:extLst>
                </a:gridCol>
                <a:gridCol w="2628900">
                  <a:extLst>
                    <a:ext uri="{9D8B030D-6E8A-4147-A177-3AD203B41FA5}">
                      <a16:colId xmlns:a16="http://schemas.microsoft.com/office/drawing/2014/main" val="2784292285"/>
                    </a:ext>
                  </a:extLst>
                </a:gridCol>
                <a:gridCol w="2628900">
                  <a:extLst>
                    <a:ext uri="{9D8B030D-6E8A-4147-A177-3AD203B41FA5}">
                      <a16:colId xmlns:a16="http://schemas.microsoft.com/office/drawing/2014/main" val="1764455800"/>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76052260"/>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media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06963594"/>
                  </a:ext>
                </a:extLst>
              </a:tr>
              <a:tr h="0">
                <a:tc>
                  <a:txBody>
                    <a:bodyPr/>
                    <a:lstStyle/>
                    <a:p>
                      <a:pPr marL="0" marR="0">
                        <a:buNone/>
                      </a:pPr>
                      <a:r>
                        <a:rPr lang="en-US" sz="2000">
                          <a:effectLst/>
                        </a:rPr>
                        <a:t>news_id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(News.id)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Associated news article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061612607"/>
                  </a:ext>
                </a:extLst>
              </a:tr>
              <a:tr h="0">
                <a:tc>
                  <a:txBody>
                    <a:bodyPr/>
                    <a:lstStyle/>
                    <a:p>
                      <a:pPr marL="0" marR="0">
                        <a:buNone/>
                      </a:pPr>
                      <a:r>
                        <a:rPr lang="en-US" sz="2000">
                          <a:effectLst/>
                        </a:rPr>
                        <a:t>image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VARCHAR(100)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Additional image file path</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014100469"/>
                  </a:ext>
                </a:extLst>
              </a:tr>
              <a:tr h="0">
                <a:tc>
                  <a:txBody>
                    <a:bodyPr/>
                    <a:lstStyle/>
                    <a:p>
                      <a:pPr marL="0" marR="0">
                        <a:buNone/>
                      </a:pPr>
                      <a:r>
                        <a:rPr lang="en-US" sz="2000">
                          <a:effectLst/>
                        </a:rPr>
                        <a:t>video</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VARCHAR(100)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Additional video file path</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788705656"/>
                  </a:ext>
                </a:extLst>
              </a:tr>
            </a:tbl>
          </a:graphicData>
        </a:graphic>
      </p:graphicFrame>
    </p:spTree>
    <p:extLst>
      <p:ext uri="{BB962C8B-B14F-4D97-AF65-F5344CB8AC3E}">
        <p14:creationId xmlns:p14="http://schemas.microsoft.com/office/powerpoint/2010/main" val="2593704561"/>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20170F-1F37-1711-0432-EBF3B649EDFF}"/>
              </a:ext>
            </a:extLst>
          </p:cNvPr>
          <p:cNvSpPr txBox="1"/>
          <p:nvPr/>
        </p:nvSpPr>
        <p:spPr>
          <a:xfrm>
            <a:off x="4363656" y="578735"/>
            <a:ext cx="2716834"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err="1"/>
              <a:t>TrendingTopic</a:t>
            </a:r>
            <a:endParaRPr lang="en-US" sz="2800" b="1" dirty="0"/>
          </a:p>
        </p:txBody>
      </p:sp>
      <p:graphicFrame>
        <p:nvGraphicFramePr>
          <p:cNvPr id="3" name="Table 2">
            <a:extLst>
              <a:ext uri="{FF2B5EF4-FFF2-40B4-BE49-F238E27FC236}">
                <a16:creationId xmlns:a16="http://schemas.microsoft.com/office/drawing/2014/main" id="{32763997-05CA-7EFF-539B-896E0BA95A9C}"/>
              </a:ext>
            </a:extLst>
          </p:cNvPr>
          <p:cNvGraphicFramePr>
            <a:graphicFrameLocks noGrp="1"/>
          </p:cNvGraphicFramePr>
          <p:nvPr>
            <p:extLst>
              <p:ext uri="{D42A27DB-BD31-4B8C-83A1-F6EECF244321}">
                <p14:modId xmlns:p14="http://schemas.microsoft.com/office/powerpoint/2010/main" val="4064411169"/>
              </p:ext>
            </p:extLst>
          </p:nvPr>
        </p:nvGraphicFramePr>
        <p:xfrm>
          <a:off x="988671" y="2464948"/>
          <a:ext cx="10515600" cy="2859406"/>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1336697322"/>
                    </a:ext>
                  </a:extLst>
                </a:gridCol>
                <a:gridCol w="2628900">
                  <a:extLst>
                    <a:ext uri="{9D8B030D-6E8A-4147-A177-3AD203B41FA5}">
                      <a16:colId xmlns:a16="http://schemas.microsoft.com/office/drawing/2014/main" val="1563895866"/>
                    </a:ext>
                  </a:extLst>
                </a:gridCol>
                <a:gridCol w="2628900">
                  <a:extLst>
                    <a:ext uri="{9D8B030D-6E8A-4147-A177-3AD203B41FA5}">
                      <a16:colId xmlns:a16="http://schemas.microsoft.com/office/drawing/2014/main" val="1303302283"/>
                    </a:ext>
                  </a:extLst>
                </a:gridCol>
                <a:gridCol w="2628900">
                  <a:extLst>
                    <a:ext uri="{9D8B030D-6E8A-4147-A177-3AD203B41FA5}">
                      <a16:colId xmlns:a16="http://schemas.microsoft.com/office/drawing/2014/main" val="4174366623"/>
                    </a:ext>
                  </a:extLst>
                </a:gridCol>
              </a:tblGrid>
              <a:tr h="408487">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143109578"/>
                  </a:ext>
                </a:extLst>
              </a:tr>
              <a:tr h="816973">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INT</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trending record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393047172"/>
                  </a:ext>
                </a:extLst>
              </a:tr>
              <a:tr h="816973">
                <a:tc>
                  <a:txBody>
                    <a:bodyPr/>
                    <a:lstStyle/>
                    <a:p>
                      <a:pPr marL="0" marR="0">
                        <a:buNone/>
                      </a:pPr>
                      <a:r>
                        <a:rPr lang="en-US" sz="2000">
                          <a:effectLst/>
                        </a:rPr>
                        <a:t>NewsTopic_id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UNIQUE, NOT NULL, FOREIGN KEY (Topic.id)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Trending topic</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07711800"/>
                  </a:ext>
                </a:extLst>
              </a:tr>
              <a:tr h="816973">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DATETIME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DEFAULT CURRENT_TIMESTAMP</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When trend was recorded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012911846"/>
                  </a:ext>
                </a:extLst>
              </a:tr>
            </a:tbl>
          </a:graphicData>
        </a:graphic>
      </p:graphicFrame>
    </p:spTree>
    <p:extLst>
      <p:ext uri="{BB962C8B-B14F-4D97-AF65-F5344CB8AC3E}">
        <p14:creationId xmlns:p14="http://schemas.microsoft.com/office/powerpoint/2010/main" val="2804589633"/>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84EC0F-7D48-F3A9-542A-B0B9A610DB78}"/>
              </a:ext>
            </a:extLst>
          </p:cNvPr>
          <p:cNvSpPr txBox="1"/>
          <p:nvPr/>
        </p:nvSpPr>
        <p:spPr>
          <a:xfrm>
            <a:off x="4317692" y="520861"/>
            <a:ext cx="3556615" cy="584775"/>
          </a:xfrm>
          <a:prstGeom prst="rect">
            <a:avLst/>
          </a:prstGeom>
          <a:noFill/>
        </p:spPr>
        <p:txBody>
          <a:bodyPr wrap="none" rtlCol="0">
            <a:spAutoFit/>
          </a:bodyPr>
          <a:lstStyle/>
          <a:p>
            <a:pPr marL="342900" indent="-342900">
              <a:buFont typeface="Wingdings" panose="05000000000000000000" pitchFamily="2" charset="2"/>
              <a:buChar char="v"/>
            </a:pPr>
            <a:r>
              <a:rPr lang="en-US" sz="3200" b="1" dirty="0"/>
              <a:t>Table: bookmarks</a:t>
            </a:r>
          </a:p>
        </p:txBody>
      </p:sp>
      <p:graphicFrame>
        <p:nvGraphicFramePr>
          <p:cNvPr id="4" name="Table 3">
            <a:extLst>
              <a:ext uri="{FF2B5EF4-FFF2-40B4-BE49-F238E27FC236}">
                <a16:creationId xmlns:a16="http://schemas.microsoft.com/office/drawing/2014/main" id="{38CD1145-03D6-F12E-3684-132D68C52D0D}"/>
              </a:ext>
            </a:extLst>
          </p:cNvPr>
          <p:cNvGraphicFramePr>
            <a:graphicFrameLocks noGrp="1"/>
          </p:cNvGraphicFramePr>
          <p:nvPr>
            <p:extLst>
              <p:ext uri="{D42A27DB-BD31-4B8C-83A1-F6EECF244321}">
                <p14:modId xmlns:p14="http://schemas.microsoft.com/office/powerpoint/2010/main" val="878012588"/>
              </p:ext>
            </p:extLst>
          </p:nvPr>
        </p:nvGraphicFramePr>
        <p:xfrm>
          <a:off x="838199" y="2362200"/>
          <a:ext cx="10515600" cy="213360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3822991695"/>
                    </a:ext>
                  </a:extLst>
                </a:gridCol>
                <a:gridCol w="2628900">
                  <a:extLst>
                    <a:ext uri="{9D8B030D-6E8A-4147-A177-3AD203B41FA5}">
                      <a16:colId xmlns:a16="http://schemas.microsoft.com/office/drawing/2014/main" val="1209877676"/>
                    </a:ext>
                  </a:extLst>
                </a:gridCol>
                <a:gridCol w="2628900">
                  <a:extLst>
                    <a:ext uri="{9D8B030D-6E8A-4147-A177-3AD203B41FA5}">
                      <a16:colId xmlns:a16="http://schemas.microsoft.com/office/drawing/2014/main" val="1831325095"/>
                    </a:ext>
                  </a:extLst>
                </a:gridCol>
                <a:gridCol w="2628900">
                  <a:extLst>
                    <a:ext uri="{9D8B030D-6E8A-4147-A177-3AD203B41FA5}">
                      <a16:colId xmlns:a16="http://schemas.microsoft.com/office/drawing/2014/main" val="175027864"/>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637273243"/>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relationship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83627269"/>
                  </a:ext>
                </a:extLst>
              </a:tr>
              <a:tr h="0">
                <a:tc>
                  <a:txBody>
                    <a:bodyPr/>
                    <a:lstStyle/>
                    <a:p>
                      <a:pPr marL="0" marR="0">
                        <a:buNone/>
                      </a:pPr>
                      <a:r>
                        <a:rPr lang="en-US" sz="2000">
                          <a:effectLst/>
                        </a:rPr>
                        <a:t>bookmarks_id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(bookmarks.id)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Reference to bookmark record</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686970939"/>
                  </a:ext>
                </a:extLst>
              </a:tr>
              <a:tr h="0">
                <a:tc>
                  <a:txBody>
                    <a:bodyPr/>
                    <a:lstStyle/>
                    <a:p>
                      <a:pPr marL="0" marR="0">
                        <a:buNone/>
                      </a:pPr>
                      <a:r>
                        <a:rPr lang="en-US" sz="2000">
                          <a:effectLst/>
                        </a:rPr>
                        <a:t>user_id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(auth_user.id)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User who bookmarked the news</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493284369"/>
                  </a:ext>
                </a:extLst>
              </a:tr>
            </a:tbl>
          </a:graphicData>
        </a:graphic>
      </p:graphicFrame>
    </p:spTree>
    <p:extLst>
      <p:ext uri="{BB962C8B-B14F-4D97-AF65-F5344CB8AC3E}">
        <p14:creationId xmlns:p14="http://schemas.microsoft.com/office/powerpoint/2010/main" val="1204522560"/>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3C9D4-2EFF-EE2F-DDC2-BBF28FB3A58E}"/>
              </a:ext>
            </a:extLst>
          </p:cNvPr>
          <p:cNvSpPr txBox="1"/>
          <p:nvPr/>
        </p:nvSpPr>
        <p:spPr>
          <a:xfrm>
            <a:off x="3727049" y="590309"/>
            <a:ext cx="4565352"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Table: </a:t>
            </a:r>
            <a:r>
              <a:rPr lang="en-US" sz="2800" b="1" dirty="0" err="1"/>
              <a:t>followingStaff_User</a:t>
            </a:r>
            <a:endParaRPr lang="en-US" sz="2800" b="1" dirty="0"/>
          </a:p>
        </p:txBody>
      </p:sp>
      <p:graphicFrame>
        <p:nvGraphicFramePr>
          <p:cNvPr id="3" name="Table 2">
            <a:extLst>
              <a:ext uri="{FF2B5EF4-FFF2-40B4-BE49-F238E27FC236}">
                <a16:creationId xmlns:a16="http://schemas.microsoft.com/office/drawing/2014/main" id="{C864D660-44F8-5C8A-D3C8-013B41D6F99A}"/>
              </a:ext>
            </a:extLst>
          </p:cNvPr>
          <p:cNvGraphicFramePr>
            <a:graphicFrameLocks noGrp="1"/>
          </p:cNvGraphicFramePr>
          <p:nvPr>
            <p:extLst>
              <p:ext uri="{D42A27DB-BD31-4B8C-83A1-F6EECF244321}">
                <p14:modId xmlns:p14="http://schemas.microsoft.com/office/powerpoint/2010/main" val="1514396386"/>
              </p:ext>
            </p:extLst>
          </p:nvPr>
        </p:nvGraphicFramePr>
        <p:xfrm>
          <a:off x="838200" y="2140856"/>
          <a:ext cx="10515600" cy="329184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2477271903"/>
                    </a:ext>
                  </a:extLst>
                </a:gridCol>
                <a:gridCol w="2628900">
                  <a:extLst>
                    <a:ext uri="{9D8B030D-6E8A-4147-A177-3AD203B41FA5}">
                      <a16:colId xmlns:a16="http://schemas.microsoft.com/office/drawing/2014/main" val="2545086032"/>
                    </a:ext>
                  </a:extLst>
                </a:gridCol>
                <a:gridCol w="2628900">
                  <a:extLst>
                    <a:ext uri="{9D8B030D-6E8A-4147-A177-3AD203B41FA5}">
                      <a16:colId xmlns:a16="http://schemas.microsoft.com/office/drawing/2014/main" val="1143544160"/>
                    </a:ext>
                  </a:extLst>
                </a:gridCol>
                <a:gridCol w="2628900">
                  <a:extLst>
                    <a:ext uri="{9D8B030D-6E8A-4147-A177-3AD203B41FA5}">
                      <a16:colId xmlns:a16="http://schemas.microsoft.com/office/drawing/2014/main" val="1148127664"/>
                    </a:ext>
                  </a:extLst>
                </a:gridCol>
              </a:tblGrid>
              <a:tr h="0">
                <a:tc>
                  <a:txBody>
                    <a:bodyPr/>
                    <a:lstStyle/>
                    <a:p>
                      <a:pPr marL="0" marR="0">
                        <a:buNone/>
                      </a:pPr>
                      <a:r>
                        <a:rPr lang="en-US" sz="2400">
                          <a:effectLst/>
                        </a:rPr>
                        <a:t>Column Name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Data Type</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Constraints</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Description</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686043465"/>
                  </a:ext>
                </a:extLst>
              </a:tr>
              <a:tr h="0">
                <a:tc>
                  <a:txBody>
                    <a:bodyPr/>
                    <a:lstStyle/>
                    <a:p>
                      <a:pPr marL="0" marR="0">
                        <a:buNone/>
                      </a:pPr>
                      <a:r>
                        <a:rPr lang="en-US" sz="2400">
                          <a:effectLst/>
                        </a:rPr>
                        <a:t>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PRIMARY KEY, AUTO_INCREMENT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Unique relationship identifier</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953502903"/>
                  </a:ext>
                </a:extLst>
              </a:tr>
              <a:tr h="0">
                <a:tc>
                  <a:txBody>
                    <a:bodyPr/>
                    <a:lstStyle/>
                    <a:p>
                      <a:pPr marL="0" marR="0">
                        <a:buNone/>
                      </a:pPr>
                      <a:r>
                        <a:rPr lang="en-US" sz="2400">
                          <a:effectLst/>
                        </a:rPr>
                        <a:t>followingstaff_id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NOT NULL, FOREIGN KEY (followingStaff.id)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Reference to follow record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615478748"/>
                  </a:ext>
                </a:extLst>
              </a:tr>
              <a:tr h="0">
                <a:tc>
                  <a:txBody>
                    <a:bodyPr/>
                    <a:lstStyle/>
                    <a:p>
                      <a:pPr marL="0" marR="0">
                        <a:buNone/>
                      </a:pPr>
                      <a:r>
                        <a:rPr lang="en-US" sz="2400">
                          <a:effectLst/>
                        </a:rPr>
                        <a:t>user_id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INT</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a:effectLst/>
                        </a:rPr>
                        <a:t>NOT NULL, FOREIGN KEY (auth_user.id)</a:t>
                      </a:r>
                      <a:endParaRPr lang="en-US" sz="16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400" dirty="0">
                          <a:effectLst/>
                        </a:rPr>
                        <a:t>User following the staff</a:t>
                      </a:r>
                      <a:endParaRPr lang="en-US" sz="16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396991517"/>
                  </a:ext>
                </a:extLst>
              </a:tr>
            </a:tbl>
          </a:graphicData>
        </a:graphic>
      </p:graphicFrame>
    </p:spTree>
    <p:extLst>
      <p:ext uri="{BB962C8B-B14F-4D97-AF65-F5344CB8AC3E}">
        <p14:creationId xmlns:p14="http://schemas.microsoft.com/office/powerpoint/2010/main" val="1153667857"/>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2E894-846C-B063-4A21-822648348086}"/>
              </a:ext>
            </a:extLst>
          </p:cNvPr>
          <p:cNvSpPr txBox="1"/>
          <p:nvPr/>
        </p:nvSpPr>
        <p:spPr>
          <a:xfrm>
            <a:off x="3923818" y="416688"/>
            <a:ext cx="4063548" cy="584775"/>
          </a:xfrm>
          <a:prstGeom prst="rect">
            <a:avLst/>
          </a:prstGeom>
          <a:noFill/>
        </p:spPr>
        <p:txBody>
          <a:bodyPr wrap="none" rtlCol="0">
            <a:spAutoFit/>
          </a:bodyPr>
          <a:lstStyle/>
          <a:p>
            <a:pPr marL="457200" indent="-457200">
              <a:buFont typeface="Wingdings" panose="05000000000000000000" pitchFamily="2" charset="2"/>
              <a:buChar char="v"/>
            </a:pPr>
            <a:r>
              <a:rPr lang="en-US" sz="3200" b="1" dirty="0"/>
              <a:t>Table: </a:t>
            </a:r>
            <a:r>
              <a:rPr lang="en-US" sz="3200" b="1" dirty="0" err="1"/>
              <a:t>NewsGujarati</a:t>
            </a:r>
            <a:endParaRPr lang="en-US" sz="3200" b="1" dirty="0"/>
          </a:p>
        </p:txBody>
      </p:sp>
      <p:graphicFrame>
        <p:nvGraphicFramePr>
          <p:cNvPr id="3" name="Table 2">
            <a:extLst>
              <a:ext uri="{FF2B5EF4-FFF2-40B4-BE49-F238E27FC236}">
                <a16:creationId xmlns:a16="http://schemas.microsoft.com/office/drawing/2014/main" id="{601B757B-BF2C-6867-6CB5-ADBD07E61ECE}"/>
              </a:ext>
            </a:extLst>
          </p:cNvPr>
          <p:cNvGraphicFramePr>
            <a:graphicFrameLocks noGrp="1"/>
          </p:cNvGraphicFramePr>
          <p:nvPr>
            <p:extLst>
              <p:ext uri="{D42A27DB-BD31-4B8C-83A1-F6EECF244321}">
                <p14:modId xmlns:p14="http://schemas.microsoft.com/office/powerpoint/2010/main" val="2337175838"/>
              </p:ext>
            </p:extLst>
          </p:nvPr>
        </p:nvGraphicFramePr>
        <p:xfrm>
          <a:off x="697792" y="1543601"/>
          <a:ext cx="10946340" cy="4637281"/>
        </p:xfrm>
        <a:graphic>
          <a:graphicData uri="http://schemas.openxmlformats.org/drawingml/2006/table">
            <a:tbl>
              <a:tblPr firstRow="1" firstCol="1" bandRow="1">
                <a:tableStyleId>{9D7B26C5-4107-4FEC-AEDC-1716B250A1EF}</a:tableStyleId>
              </a:tblPr>
              <a:tblGrid>
                <a:gridCol w="2736585">
                  <a:extLst>
                    <a:ext uri="{9D8B030D-6E8A-4147-A177-3AD203B41FA5}">
                      <a16:colId xmlns:a16="http://schemas.microsoft.com/office/drawing/2014/main" val="2455740939"/>
                    </a:ext>
                  </a:extLst>
                </a:gridCol>
                <a:gridCol w="2736585">
                  <a:extLst>
                    <a:ext uri="{9D8B030D-6E8A-4147-A177-3AD203B41FA5}">
                      <a16:colId xmlns:a16="http://schemas.microsoft.com/office/drawing/2014/main" val="1677932437"/>
                    </a:ext>
                  </a:extLst>
                </a:gridCol>
                <a:gridCol w="2736585">
                  <a:extLst>
                    <a:ext uri="{9D8B030D-6E8A-4147-A177-3AD203B41FA5}">
                      <a16:colId xmlns:a16="http://schemas.microsoft.com/office/drawing/2014/main" val="2099411826"/>
                    </a:ext>
                  </a:extLst>
                </a:gridCol>
                <a:gridCol w="2736585">
                  <a:extLst>
                    <a:ext uri="{9D8B030D-6E8A-4147-A177-3AD203B41FA5}">
                      <a16:colId xmlns:a16="http://schemas.microsoft.com/office/drawing/2014/main" val="2168799301"/>
                    </a:ext>
                  </a:extLst>
                </a:gridCol>
              </a:tblGrid>
              <a:tr h="421571">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580400623"/>
                  </a:ext>
                </a:extLst>
              </a:tr>
              <a:tr h="843142">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translation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314457077"/>
                  </a:ext>
                </a:extLst>
              </a:tr>
              <a:tr h="843142">
                <a:tc>
                  <a:txBody>
                    <a:bodyPr/>
                    <a:lstStyle/>
                    <a:p>
                      <a:pPr marL="0" marR="0">
                        <a:buNone/>
                      </a:pPr>
                      <a:r>
                        <a:rPr lang="en-US" sz="2000">
                          <a:effectLst/>
                        </a:rPr>
                        <a:t>News_id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NOT NULL, FOREIGN KEY (News.id)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Original news article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29470610"/>
                  </a:ext>
                </a:extLst>
              </a:tr>
              <a:tr h="843142">
                <a:tc>
                  <a:txBody>
                    <a:bodyPr/>
                    <a:lstStyle/>
                    <a:p>
                      <a:pPr marL="0" marR="0">
                        <a:buNone/>
                      </a:pPr>
                      <a:r>
                        <a:rPr lang="en-US" sz="2000">
                          <a:effectLst/>
                        </a:rPr>
                        <a:t>Topic_id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(TopicGujarati.id)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Gujarati topic reference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684229504"/>
                  </a:ext>
                </a:extLst>
              </a:tr>
              <a:tr h="421571">
                <a:tc>
                  <a:txBody>
                    <a:bodyPr/>
                    <a:lstStyle/>
                    <a:p>
                      <a:pPr marL="0" marR="0">
                        <a:buNone/>
                      </a:pPr>
                      <a:r>
                        <a:rPr lang="en-US" sz="2000">
                          <a:effectLst/>
                        </a:rPr>
                        <a:t>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VARCHAR(200)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NOT NULL</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Gujarati news 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394306289"/>
                  </a:ext>
                </a:extLst>
              </a:tr>
              <a:tr h="421571">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Gujarati news content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509271742"/>
                  </a:ext>
                </a:extLst>
              </a:tr>
              <a:tr h="843142">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DEFAULT CURRENT_DATE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Translation date</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50738781"/>
                  </a:ext>
                </a:extLst>
              </a:tr>
            </a:tbl>
          </a:graphicData>
        </a:graphic>
      </p:graphicFrame>
    </p:spTree>
    <p:extLst>
      <p:ext uri="{BB962C8B-B14F-4D97-AF65-F5344CB8AC3E}">
        <p14:creationId xmlns:p14="http://schemas.microsoft.com/office/powerpoint/2010/main" val="1761564799"/>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68185C-58A3-0DBF-F094-19EEE092DF84}"/>
              </a:ext>
            </a:extLst>
          </p:cNvPr>
          <p:cNvSpPr txBox="1"/>
          <p:nvPr/>
        </p:nvSpPr>
        <p:spPr>
          <a:xfrm>
            <a:off x="4155311" y="520860"/>
            <a:ext cx="3229602" cy="523220"/>
          </a:xfrm>
          <a:prstGeom prst="rect">
            <a:avLst/>
          </a:prstGeom>
          <a:noFill/>
        </p:spPr>
        <p:txBody>
          <a:bodyPr wrap="none" rtlCol="0">
            <a:spAutoFit/>
          </a:bodyPr>
          <a:lstStyle/>
          <a:p>
            <a:pPr marL="457200" indent="-457200">
              <a:buFont typeface="Wingdings" panose="05000000000000000000" pitchFamily="2" charset="2"/>
              <a:buChar char="v"/>
            </a:pPr>
            <a:r>
              <a:rPr lang="en-US" sz="2800" b="1" dirty="0"/>
              <a:t>Table: </a:t>
            </a:r>
            <a:r>
              <a:rPr lang="en-US" sz="2800" b="1" dirty="0" err="1"/>
              <a:t>NewsHindi</a:t>
            </a:r>
            <a:endParaRPr lang="en-US" sz="2800" b="1" dirty="0"/>
          </a:p>
        </p:txBody>
      </p:sp>
      <p:graphicFrame>
        <p:nvGraphicFramePr>
          <p:cNvPr id="3" name="Table 2">
            <a:extLst>
              <a:ext uri="{FF2B5EF4-FFF2-40B4-BE49-F238E27FC236}">
                <a16:creationId xmlns:a16="http://schemas.microsoft.com/office/drawing/2014/main" id="{342EC2F1-205A-4272-73C3-770CCEF03781}"/>
              </a:ext>
            </a:extLst>
          </p:cNvPr>
          <p:cNvGraphicFramePr>
            <a:graphicFrameLocks noGrp="1"/>
          </p:cNvGraphicFramePr>
          <p:nvPr>
            <p:extLst>
              <p:ext uri="{D42A27DB-BD31-4B8C-83A1-F6EECF244321}">
                <p14:modId xmlns:p14="http://schemas.microsoft.com/office/powerpoint/2010/main" val="3845197388"/>
              </p:ext>
            </p:extLst>
          </p:nvPr>
        </p:nvGraphicFramePr>
        <p:xfrm>
          <a:off x="919223" y="2110763"/>
          <a:ext cx="10515600" cy="3352800"/>
        </p:xfrm>
        <a:graphic>
          <a:graphicData uri="http://schemas.openxmlformats.org/drawingml/2006/table">
            <a:tbl>
              <a:tblPr firstRow="1" firstCol="1" bandRow="1">
                <a:tableStyleId>{616DA210-FB5B-4158-B5E0-FEB733F419BA}</a:tableStyleId>
              </a:tblPr>
              <a:tblGrid>
                <a:gridCol w="2628900">
                  <a:extLst>
                    <a:ext uri="{9D8B030D-6E8A-4147-A177-3AD203B41FA5}">
                      <a16:colId xmlns:a16="http://schemas.microsoft.com/office/drawing/2014/main" val="2036019103"/>
                    </a:ext>
                  </a:extLst>
                </a:gridCol>
                <a:gridCol w="2628900">
                  <a:extLst>
                    <a:ext uri="{9D8B030D-6E8A-4147-A177-3AD203B41FA5}">
                      <a16:colId xmlns:a16="http://schemas.microsoft.com/office/drawing/2014/main" val="3880815341"/>
                    </a:ext>
                  </a:extLst>
                </a:gridCol>
                <a:gridCol w="2628900">
                  <a:extLst>
                    <a:ext uri="{9D8B030D-6E8A-4147-A177-3AD203B41FA5}">
                      <a16:colId xmlns:a16="http://schemas.microsoft.com/office/drawing/2014/main" val="265966178"/>
                    </a:ext>
                  </a:extLst>
                </a:gridCol>
                <a:gridCol w="2628900">
                  <a:extLst>
                    <a:ext uri="{9D8B030D-6E8A-4147-A177-3AD203B41FA5}">
                      <a16:colId xmlns:a16="http://schemas.microsoft.com/office/drawing/2014/main" val="159277373"/>
                    </a:ext>
                  </a:extLst>
                </a:gridCol>
              </a:tblGrid>
              <a:tr h="0">
                <a:tc>
                  <a:txBody>
                    <a:bodyPr/>
                    <a:lstStyle/>
                    <a:p>
                      <a:pPr marL="0" marR="0">
                        <a:buNone/>
                      </a:pPr>
                      <a:r>
                        <a:rPr lang="en-US" sz="2000">
                          <a:effectLst/>
                        </a:rPr>
                        <a:t>Column Name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Data Type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Constraints</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Description</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535939597"/>
                  </a:ext>
                </a:extLst>
              </a:tr>
              <a:tr h="0">
                <a:tc>
                  <a:txBody>
                    <a:bodyPr/>
                    <a:lstStyle/>
                    <a:p>
                      <a:pPr marL="0" marR="0">
                        <a:buNone/>
                      </a:pPr>
                      <a:r>
                        <a:rPr lang="en-US" sz="2000">
                          <a:effectLst/>
                        </a:rPr>
                        <a:t>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PRIMARY KEY, AUTO_INCREMENT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translation identifier</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374142496"/>
                  </a:ext>
                </a:extLst>
              </a:tr>
              <a:tr h="0">
                <a:tc>
                  <a:txBody>
                    <a:bodyPr/>
                    <a:lstStyle/>
                    <a:p>
                      <a:pPr marL="0" marR="0">
                        <a:buNone/>
                      </a:pPr>
                      <a:r>
                        <a:rPr lang="en-US" sz="2000">
                          <a:effectLst/>
                        </a:rPr>
                        <a:t>News_id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UNIQUE, NOT NULL, FOREIGN KEY (News.id)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Original news article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4134291437"/>
                  </a:ext>
                </a:extLst>
              </a:tr>
              <a:tr h="0">
                <a:tc>
                  <a:txBody>
                    <a:bodyPr/>
                    <a:lstStyle/>
                    <a:p>
                      <a:pPr marL="0" marR="0">
                        <a:buNone/>
                      </a:pPr>
                      <a:r>
                        <a:rPr lang="en-US" sz="2000">
                          <a:effectLst/>
                        </a:rPr>
                        <a:t>Topic_id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INT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 FOREIGN KEY (TopicHindi.id)</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Hindi topic reference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864938995"/>
                  </a:ext>
                </a:extLst>
              </a:tr>
              <a:tr h="0">
                <a:tc>
                  <a:txBody>
                    <a:bodyPr/>
                    <a:lstStyle/>
                    <a:p>
                      <a:pPr marL="0" marR="0">
                        <a:buNone/>
                      </a:pPr>
                      <a:r>
                        <a:rPr lang="en-US" sz="2000">
                          <a:effectLst/>
                        </a:rPr>
                        <a:t>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VARCHAR(200)</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NOT 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Hindi news title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3143184714"/>
                  </a:ext>
                </a:extLst>
              </a:tr>
              <a:tr h="0">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TEXT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NULL</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Hindi news content</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173299034"/>
                  </a:ext>
                </a:extLst>
              </a:tr>
              <a:tr h="0">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a:effectLst/>
                        </a:rPr>
                        <a:t>DEFAULT CURRENT_DATE</a:t>
                      </a:r>
                      <a:endParaRPr lang="en-US" sz="14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tc>
                  <a:txBody>
                    <a:bodyPr/>
                    <a:lstStyle/>
                    <a:p>
                      <a:pPr marL="0" marR="0">
                        <a:buNone/>
                      </a:pPr>
                      <a:r>
                        <a:rPr lang="en-US" sz="2000" dirty="0">
                          <a:effectLst/>
                        </a:rPr>
                        <a:t>Translation date</a:t>
                      </a:r>
                      <a:endParaRPr lang="en-US" sz="14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tc>
                <a:extLst>
                  <a:ext uri="{0D108BD9-81ED-4DB2-BD59-A6C34878D82A}">
                    <a16:rowId xmlns:a16="http://schemas.microsoft.com/office/drawing/2014/main" val="2839421254"/>
                  </a:ext>
                </a:extLst>
              </a:tr>
            </a:tbl>
          </a:graphicData>
        </a:graphic>
      </p:graphicFrame>
    </p:spTree>
    <p:extLst>
      <p:ext uri="{BB962C8B-B14F-4D97-AF65-F5344CB8AC3E}">
        <p14:creationId xmlns:p14="http://schemas.microsoft.com/office/powerpoint/2010/main" val="2621618736"/>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DA5E26-6E4A-D7A5-3401-F3FA571D6B2E}"/>
              </a:ext>
            </a:extLst>
          </p:cNvPr>
          <p:cNvSpPr txBox="1"/>
          <p:nvPr/>
        </p:nvSpPr>
        <p:spPr>
          <a:xfrm>
            <a:off x="2902401" y="2488556"/>
            <a:ext cx="6387198" cy="1200329"/>
          </a:xfrm>
          <a:prstGeom prst="rect">
            <a:avLst/>
          </a:prstGeom>
          <a:noFill/>
        </p:spPr>
        <p:txBody>
          <a:bodyPr wrap="none" rtlCol="0">
            <a:spAutoFit/>
          </a:bodyPr>
          <a:lstStyle/>
          <a:p>
            <a:r>
              <a:rPr lang="en-US" sz="7200" b="1" dirty="0"/>
              <a:t>Interface Design</a:t>
            </a:r>
          </a:p>
        </p:txBody>
      </p:sp>
    </p:spTree>
    <p:extLst>
      <p:ext uri="{BB962C8B-B14F-4D97-AF65-F5344CB8AC3E}">
        <p14:creationId xmlns:p14="http://schemas.microsoft.com/office/powerpoint/2010/main" val="2954548526"/>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DC0907-5583-1CB6-5203-1447A9E959E4}"/>
              </a:ext>
            </a:extLst>
          </p:cNvPr>
          <p:cNvPicPr>
            <a:picLocks noChangeAspect="1"/>
          </p:cNvPicPr>
          <p:nvPr/>
        </p:nvPicPr>
        <p:blipFill>
          <a:blip r:embed="rId2"/>
          <a:stretch>
            <a:fillRect/>
          </a:stretch>
        </p:blipFill>
        <p:spPr>
          <a:xfrm>
            <a:off x="169945" y="138896"/>
            <a:ext cx="11670956" cy="6152190"/>
          </a:xfrm>
          <a:prstGeom prst="rect">
            <a:avLst/>
          </a:prstGeom>
        </p:spPr>
      </p:pic>
    </p:spTree>
    <p:extLst>
      <p:ext uri="{BB962C8B-B14F-4D97-AF65-F5344CB8AC3E}">
        <p14:creationId xmlns:p14="http://schemas.microsoft.com/office/powerpoint/2010/main" val="2116121172"/>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E7234E-E658-EBAD-0C99-612B91E9E937}"/>
              </a:ext>
            </a:extLst>
          </p:cNvPr>
          <p:cNvPicPr>
            <a:picLocks noChangeAspect="1"/>
          </p:cNvPicPr>
          <p:nvPr/>
        </p:nvPicPr>
        <p:blipFill>
          <a:blip r:embed="rId2"/>
          <a:stretch>
            <a:fillRect/>
          </a:stretch>
        </p:blipFill>
        <p:spPr>
          <a:xfrm>
            <a:off x="334162" y="231494"/>
            <a:ext cx="11523675" cy="6097945"/>
          </a:xfrm>
          <a:prstGeom prst="rect">
            <a:avLst/>
          </a:prstGeom>
        </p:spPr>
      </p:pic>
    </p:spTree>
    <p:extLst>
      <p:ext uri="{BB962C8B-B14F-4D97-AF65-F5344CB8AC3E}">
        <p14:creationId xmlns:p14="http://schemas.microsoft.com/office/powerpoint/2010/main" val="172652255"/>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4056699-6ABE-1DD0-AC05-AEA837CBA88B}"/>
              </a:ext>
            </a:extLst>
          </p:cNvPr>
          <p:cNvPicPr>
            <a:picLocks noChangeAspect="1"/>
          </p:cNvPicPr>
          <p:nvPr/>
        </p:nvPicPr>
        <p:blipFill>
          <a:blip r:embed="rId2"/>
          <a:stretch>
            <a:fillRect/>
          </a:stretch>
        </p:blipFill>
        <p:spPr>
          <a:xfrm>
            <a:off x="470745" y="428263"/>
            <a:ext cx="11069213" cy="5904763"/>
          </a:xfrm>
          <a:prstGeom prst="rect">
            <a:avLst/>
          </a:prstGeom>
        </p:spPr>
      </p:pic>
    </p:spTree>
    <p:extLst>
      <p:ext uri="{BB962C8B-B14F-4D97-AF65-F5344CB8AC3E}">
        <p14:creationId xmlns:p14="http://schemas.microsoft.com/office/powerpoint/2010/main" val="4086997420"/>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BFBFC0-250F-CF3F-E56A-34CD56409D4C}"/>
              </a:ext>
            </a:extLst>
          </p:cNvPr>
          <p:cNvPicPr>
            <a:picLocks noChangeAspect="1"/>
          </p:cNvPicPr>
          <p:nvPr/>
        </p:nvPicPr>
        <p:blipFill>
          <a:blip r:embed="rId2"/>
          <a:stretch>
            <a:fillRect/>
          </a:stretch>
        </p:blipFill>
        <p:spPr>
          <a:xfrm>
            <a:off x="696745" y="439838"/>
            <a:ext cx="10495973" cy="5563090"/>
          </a:xfrm>
          <a:prstGeom prst="rect">
            <a:avLst/>
          </a:prstGeom>
        </p:spPr>
      </p:pic>
    </p:spTree>
    <p:extLst>
      <p:ext uri="{BB962C8B-B14F-4D97-AF65-F5344CB8AC3E}">
        <p14:creationId xmlns:p14="http://schemas.microsoft.com/office/powerpoint/2010/main" val="983738040"/>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83FF47-8FCF-21E8-ACA4-8B053B34A428}"/>
              </a:ext>
            </a:extLst>
          </p:cNvPr>
          <p:cNvPicPr>
            <a:picLocks noChangeAspect="1"/>
          </p:cNvPicPr>
          <p:nvPr/>
        </p:nvPicPr>
        <p:blipFill>
          <a:blip r:embed="rId2"/>
          <a:stretch>
            <a:fillRect/>
          </a:stretch>
        </p:blipFill>
        <p:spPr>
          <a:xfrm>
            <a:off x="573283" y="497711"/>
            <a:ext cx="11175021" cy="5931357"/>
          </a:xfrm>
          <a:prstGeom prst="rect">
            <a:avLst/>
          </a:prstGeom>
        </p:spPr>
      </p:pic>
    </p:spTree>
    <p:extLst>
      <p:ext uri="{BB962C8B-B14F-4D97-AF65-F5344CB8AC3E}">
        <p14:creationId xmlns:p14="http://schemas.microsoft.com/office/powerpoint/2010/main" val="2654921258"/>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749FAB-2798-6F36-D788-934623810C69}"/>
              </a:ext>
            </a:extLst>
          </p:cNvPr>
          <p:cNvPicPr>
            <a:picLocks noChangeAspect="1"/>
          </p:cNvPicPr>
          <p:nvPr/>
        </p:nvPicPr>
        <p:blipFill>
          <a:blip r:embed="rId2"/>
          <a:stretch>
            <a:fillRect/>
          </a:stretch>
        </p:blipFill>
        <p:spPr>
          <a:xfrm>
            <a:off x="590309" y="500866"/>
            <a:ext cx="10729732" cy="5706476"/>
          </a:xfrm>
          <a:prstGeom prst="rect">
            <a:avLst/>
          </a:prstGeom>
        </p:spPr>
      </p:pic>
    </p:spTree>
    <p:extLst>
      <p:ext uri="{BB962C8B-B14F-4D97-AF65-F5344CB8AC3E}">
        <p14:creationId xmlns:p14="http://schemas.microsoft.com/office/powerpoint/2010/main" val="581945368"/>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C5EACB-4B4A-67E1-43C8-EF20F9693787}"/>
              </a:ext>
            </a:extLst>
          </p:cNvPr>
          <p:cNvPicPr>
            <a:picLocks noChangeAspect="1"/>
          </p:cNvPicPr>
          <p:nvPr/>
        </p:nvPicPr>
        <p:blipFill>
          <a:blip r:embed="rId2"/>
          <a:stretch>
            <a:fillRect/>
          </a:stretch>
        </p:blipFill>
        <p:spPr>
          <a:xfrm>
            <a:off x="2801073" y="230302"/>
            <a:ext cx="6776013" cy="6397396"/>
          </a:xfrm>
          <a:prstGeom prst="rect">
            <a:avLst/>
          </a:prstGeom>
        </p:spPr>
      </p:pic>
    </p:spTree>
    <p:extLst>
      <p:ext uri="{BB962C8B-B14F-4D97-AF65-F5344CB8AC3E}">
        <p14:creationId xmlns:p14="http://schemas.microsoft.com/office/powerpoint/2010/main" val="4144741433"/>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788BA0-AE90-5E8B-3C5B-DDF33EBD1BA6}"/>
              </a:ext>
            </a:extLst>
          </p:cNvPr>
          <p:cNvPicPr>
            <a:picLocks noChangeAspect="1"/>
          </p:cNvPicPr>
          <p:nvPr/>
        </p:nvPicPr>
        <p:blipFill>
          <a:blip r:embed="rId2"/>
          <a:stretch>
            <a:fillRect/>
          </a:stretch>
        </p:blipFill>
        <p:spPr>
          <a:xfrm>
            <a:off x="370257" y="778397"/>
            <a:ext cx="11451486" cy="5301206"/>
          </a:xfrm>
          <a:prstGeom prst="rect">
            <a:avLst/>
          </a:prstGeom>
        </p:spPr>
      </p:pic>
    </p:spTree>
    <p:extLst>
      <p:ext uri="{BB962C8B-B14F-4D97-AF65-F5344CB8AC3E}">
        <p14:creationId xmlns:p14="http://schemas.microsoft.com/office/powerpoint/2010/main" val="3572609534"/>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029DD6-C219-885E-3F55-D3C5207643F8}"/>
              </a:ext>
            </a:extLst>
          </p:cNvPr>
          <p:cNvPicPr>
            <a:picLocks noChangeAspect="1"/>
          </p:cNvPicPr>
          <p:nvPr/>
        </p:nvPicPr>
        <p:blipFill>
          <a:blip r:embed="rId2"/>
          <a:stretch>
            <a:fillRect/>
          </a:stretch>
        </p:blipFill>
        <p:spPr>
          <a:xfrm>
            <a:off x="604739" y="520861"/>
            <a:ext cx="10726875" cy="5680889"/>
          </a:xfrm>
          <a:prstGeom prst="rect">
            <a:avLst/>
          </a:prstGeom>
        </p:spPr>
      </p:pic>
    </p:spTree>
    <p:extLst>
      <p:ext uri="{BB962C8B-B14F-4D97-AF65-F5344CB8AC3E}">
        <p14:creationId xmlns:p14="http://schemas.microsoft.com/office/powerpoint/2010/main" val="2586197260"/>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211DB2-A691-3999-9E9A-8C65CB2038FA}"/>
              </a:ext>
            </a:extLst>
          </p:cNvPr>
          <p:cNvPicPr>
            <a:picLocks noChangeAspect="1"/>
          </p:cNvPicPr>
          <p:nvPr/>
        </p:nvPicPr>
        <p:blipFill>
          <a:blip r:embed="rId2"/>
          <a:stretch>
            <a:fillRect/>
          </a:stretch>
        </p:blipFill>
        <p:spPr>
          <a:xfrm>
            <a:off x="83260" y="162046"/>
            <a:ext cx="12025480" cy="6342927"/>
          </a:xfrm>
          <a:prstGeom prst="rect">
            <a:avLst/>
          </a:prstGeom>
        </p:spPr>
      </p:pic>
    </p:spTree>
    <p:extLst>
      <p:ext uri="{BB962C8B-B14F-4D97-AF65-F5344CB8AC3E}">
        <p14:creationId xmlns:p14="http://schemas.microsoft.com/office/powerpoint/2010/main" val="688551184"/>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7B03EA-A1DD-D11D-8CFE-AE83EC850F9E}"/>
              </a:ext>
            </a:extLst>
          </p:cNvPr>
          <p:cNvPicPr>
            <a:picLocks noChangeAspect="1"/>
          </p:cNvPicPr>
          <p:nvPr/>
        </p:nvPicPr>
        <p:blipFill>
          <a:blip r:embed="rId2"/>
          <a:stretch>
            <a:fillRect/>
          </a:stretch>
        </p:blipFill>
        <p:spPr>
          <a:xfrm>
            <a:off x="1345700" y="226637"/>
            <a:ext cx="8527503" cy="6404725"/>
          </a:xfrm>
          <a:prstGeom prst="rect">
            <a:avLst/>
          </a:prstGeom>
        </p:spPr>
      </p:pic>
    </p:spTree>
    <p:extLst>
      <p:ext uri="{BB962C8B-B14F-4D97-AF65-F5344CB8AC3E}">
        <p14:creationId xmlns:p14="http://schemas.microsoft.com/office/powerpoint/2010/main" val="4249923385"/>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8DFCC4-BC3A-E25E-3640-54E4B74C9588}"/>
              </a:ext>
            </a:extLst>
          </p:cNvPr>
          <p:cNvPicPr>
            <a:picLocks noChangeAspect="1"/>
          </p:cNvPicPr>
          <p:nvPr/>
        </p:nvPicPr>
        <p:blipFill>
          <a:blip r:embed="rId2"/>
          <a:stretch>
            <a:fillRect/>
          </a:stretch>
        </p:blipFill>
        <p:spPr>
          <a:xfrm>
            <a:off x="728240" y="527555"/>
            <a:ext cx="10719121" cy="5664185"/>
          </a:xfrm>
          <a:prstGeom prst="rect">
            <a:avLst/>
          </a:prstGeom>
        </p:spPr>
      </p:pic>
    </p:spTree>
    <p:extLst>
      <p:ext uri="{BB962C8B-B14F-4D97-AF65-F5344CB8AC3E}">
        <p14:creationId xmlns:p14="http://schemas.microsoft.com/office/powerpoint/2010/main" val="2287223266"/>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4CFE78-F2FC-F11F-1FA5-471EC3BF0C9A}"/>
              </a:ext>
            </a:extLst>
          </p:cNvPr>
          <p:cNvPicPr>
            <a:picLocks noChangeAspect="1"/>
          </p:cNvPicPr>
          <p:nvPr/>
        </p:nvPicPr>
        <p:blipFill>
          <a:blip r:embed="rId2"/>
          <a:stretch>
            <a:fillRect/>
          </a:stretch>
        </p:blipFill>
        <p:spPr>
          <a:xfrm>
            <a:off x="590309" y="506749"/>
            <a:ext cx="10914925" cy="5793307"/>
          </a:xfrm>
          <a:prstGeom prst="rect">
            <a:avLst/>
          </a:prstGeom>
        </p:spPr>
      </p:pic>
    </p:spTree>
    <p:extLst>
      <p:ext uri="{BB962C8B-B14F-4D97-AF65-F5344CB8AC3E}">
        <p14:creationId xmlns:p14="http://schemas.microsoft.com/office/powerpoint/2010/main" val="3154421102"/>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79D6A2-FEF0-95E4-8A7C-8A9B7C547786}"/>
              </a:ext>
            </a:extLst>
          </p:cNvPr>
          <p:cNvPicPr>
            <a:picLocks noChangeAspect="1"/>
          </p:cNvPicPr>
          <p:nvPr/>
        </p:nvPicPr>
        <p:blipFill>
          <a:blip r:embed="rId2"/>
          <a:stretch>
            <a:fillRect/>
          </a:stretch>
        </p:blipFill>
        <p:spPr>
          <a:xfrm>
            <a:off x="799204" y="648182"/>
            <a:ext cx="10787054" cy="5663203"/>
          </a:xfrm>
          <a:prstGeom prst="rect">
            <a:avLst/>
          </a:prstGeom>
        </p:spPr>
      </p:pic>
    </p:spTree>
    <p:extLst>
      <p:ext uri="{BB962C8B-B14F-4D97-AF65-F5344CB8AC3E}">
        <p14:creationId xmlns:p14="http://schemas.microsoft.com/office/powerpoint/2010/main" val="728188312"/>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521383-001D-CE4B-2F0A-B16A75B2477C}"/>
              </a:ext>
            </a:extLst>
          </p:cNvPr>
          <p:cNvSpPr txBox="1"/>
          <p:nvPr/>
        </p:nvSpPr>
        <p:spPr>
          <a:xfrm>
            <a:off x="4155311" y="648182"/>
            <a:ext cx="3165418" cy="646331"/>
          </a:xfrm>
          <a:prstGeom prst="rect">
            <a:avLst/>
          </a:prstGeom>
          <a:noFill/>
        </p:spPr>
        <p:txBody>
          <a:bodyPr wrap="none" rtlCol="0">
            <a:spAutoFit/>
          </a:bodyPr>
          <a:lstStyle/>
          <a:p>
            <a:pPr marL="571500" indent="-571500">
              <a:buFont typeface="Wingdings" panose="05000000000000000000" pitchFamily="2" charset="2"/>
              <a:buChar char="v"/>
            </a:pPr>
            <a:r>
              <a:rPr lang="en-US" sz="3600" b="1" dirty="0"/>
              <a:t>Bibliography</a:t>
            </a:r>
          </a:p>
        </p:txBody>
      </p:sp>
      <p:sp>
        <p:nvSpPr>
          <p:cNvPr id="3" name="TextBox 2">
            <a:extLst>
              <a:ext uri="{FF2B5EF4-FFF2-40B4-BE49-F238E27FC236}">
                <a16:creationId xmlns:a16="http://schemas.microsoft.com/office/drawing/2014/main" id="{C096A846-9C81-F3E4-88F1-5944B9ABF4E2}"/>
              </a:ext>
            </a:extLst>
          </p:cNvPr>
          <p:cNvSpPr txBox="1"/>
          <p:nvPr/>
        </p:nvSpPr>
        <p:spPr>
          <a:xfrm>
            <a:off x="1088019" y="1805650"/>
            <a:ext cx="7594836" cy="4893647"/>
          </a:xfrm>
          <a:prstGeom prst="rect">
            <a:avLst/>
          </a:prstGeom>
          <a:noFill/>
        </p:spPr>
        <p:txBody>
          <a:bodyPr wrap="square" rtlCol="0">
            <a:spAutoFit/>
          </a:bodyPr>
          <a:lstStyle/>
          <a:p>
            <a:pPr marL="342900" lvl="0" indent="-342900">
              <a:buFont typeface="Wingdings" panose="05000000000000000000" pitchFamily="2" charset="2"/>
              <a:buChar char="Ø"/>
            </a:pPr>
            <a:r>
              <a:rPr lang="en-US" sz="2400" b="1" dirty="0" err="1"/>
              <a:t>GeeksforGeeks</a:t>
            </a:r>
            <a:r>
              <a:rPr lang="en-US" sz="2400" b="1" dirty="0"/>
              <a:t>,</a:t>
            </a:r>
            <a:r>
              <a:rPr lang="en-US" sz="2400" dirty="0"/>
              <a:t> "Page Title," </a:t>
            </a:r>
            <a:r>
              <a:rPr lang="en-US" sz="2400" dirty="0" err="1"/>
              <a:t>GeeksforGeeks</a:t>
            </a:r>
            <a:r>
              <a:rPr lang="en-US" sz="2400" dirty="0"/>
              <a:t>. [Online]. </a:t>
            </a:r>
          </a:p>
          <a:p>
            <a:pPr lvl="0"/>
            <a:r>
              <a:rPr lang="en-US" sz="2400" dirty="0"/>
              <a:t>Available:</a:t>
            </a:r>
            <a:r>
              <a:rPr lang="en-US" sz="2400" dirty="0">
                <a:solidFill>
                  <a:srgbClr val="C00000"/>
                </a:solidFill>
              </a:rPr>
              <a:t> https://www.geeksforgeeks.org/.</a:t>
            </a:r>
          </a:p>
          <a:p>
            <a:r>
              <a:rPr lang="en-US" sz="2400" dirty="0"/>
              <a:t> </a:t>
            </a:r>
          </a:p>
          <a:p>
            <a:pPr marL="342900" lvl="0" indent="-342900">
              <a:buFont typeface="Wingdings" panose="05000000000000000000" pitchFamily="2" charset="2"/>
              <a:buChar char="Ø"/>
            </a:pPr>
            <a:r>
              <a:rPr lang="en-US" sz="2400" b="1" dirty="0"/>
              <a:t>W3Schools,</a:t>
            </a:r>
            <a:r>
              <a:rPr lang="en-US" sz="2400" dirty="0"/>
              <a:t> "Page Title," W3Schools. [Online]. </a:t>
            </a:r>
          </a:p>
          <a:p>
            <a:pPr lvl="0"/>
            <a:r>
              <a:rPr lang="en-US" sz="2400" dirty="0"/>
              <a:t>Available:</a:t>
            </a:r>
            <a:r>
              <a:rPr lang="en-US" sz="2400" dirty="0">
                <a:solidFill>
                  <a:srgbClr val="C00000"/>
                </a:solidFill>
              </a:rPr>
              <a:t> https://www.w3schools.com/.</a:t>
            </a:r>
          </a:p>
          <a:p>
            <a:r>
              <a:rPr lang="en-US" sz="2400" dirty="0"/>
              <a:t> </a:t>
            </a:r>
          </a:p>
          <a:p>
            <a:pPr marL="342900" lvl="0" indent="-342900">
              <a:buFont typeface="Wingdings" panose="05000000000000000000" pitchFamily="2" charset="2"/>
              <a:buChar char="Ø"/>
            </a:pPr>
            <a:r>
              <a:rPr lang="en-US" sz="2400" b="1" dirty="0" err="1"/>
              <a:t>JavaTpoint</a:t>
            </a:r>
            <a:r>
              <a:rPr lang="en-US" sz="2400" b="1" dirty="0"/>
              <a:t>,</a:t>
            </a:r>
            <a:r>
              <a:rPr lang="en-US" sz="2400" dirty="0"/>
              <a:t> "Page Title," </a:t>
            </a:r>
            <a:r>
              <a:rPr lang="en-US" sz="2400" dirty="0" err="1"/>
              <a:t>JavaTpoint</a:t>
            </a:r>
            <a:r>
              <a:rPr lang="en-US" sz="2400" dirty="0"/>
              <a:t>. [Online].</a:t>
            </a:r>
          </a:p>
          <a:p>
            <a:pPr lvl="0"/>
            <a:r>
              <a:rPr lang="en-US" sz="2400" dirty="0"/>
              <a:t>Available:</a:t>
            </a:r>
            <a:r>
              <a:rPr lang="en-US" sz="2400" dirty="0">
                <a:solidFill>
                  <a:srgbClr val="C00000"/>
                </a:solidFill>
              </a:rPr>
              <a:t> https://www.javatpoint.com/</a:t>
            </a:r>
          </a:p>
          <a:p>
            <a:r>
              <a:rPr lang="en-US" sz="2400" dirty="0"/>
              <a:t> </a:t>
            </a:r>
          </a:p>
          <a:p>
            <a:pPr marL="342900" lvl="0" indent="-342900">
              <a:buFont typeface="Wingdings" panose="05000000000000000000" pitchFamily="2" charset="2"/>
              <a:buChar char="Ø"/>
            </a:pPr>
            <a:r>
              <a:rPr lang="en-US" sz="2400" b="1" dirty="0" err="1"/>
              <a:t>CodeWithHarry</a:t>
            </a:r>
            <a:r>
              <a:rPr lang="en-US" sz="2400" b="1" dirty="0"/>
              <a:t>,</a:t>
            </a:r>
            <a:r>
              <a:rPr lang="en-US" sz="2400" dirty="0"/>
              <a:t> "Video Title," YouTube. [Online]. </a:t>
            </a:r>
          </a:p>
          <a:p>
            <a:pPr lvl="0"/>
            <a:r>
              <a:rPr lang="en-US" sz="2400" dirty="0"/>
              <a:t>Available: </a:t>
            </a:r>
            <a:r>
              <a:rPr lang="en-US" sz="2400" dirty="0">
                <a:solidFill>
                  <a:srgbClr val="C00000"/>
                </a:solidFill>
              </a:rPr>
              <a:t>https://www.youtube.com/@CodeWithHarry. </a:t>
            </a:r>
          </a:p>
          <a:p>
            <a:r>
              <a:rPr lang="en-US" sz="2400" dirty="0"/>
              <a:t> </a:t>
            </a:r>
          </a:p>
          <a:p>
            <a:pPr marL="342900" indent="-342900">
              <a:buFont typeface="Wingdings" panose="05000000000000000000" pitchFamily="2" charset="2"/>
              <a:buChar char="Ø"/>
            </a:pPr>
            <a:endParaRPr lang="en-US" sz="2400" dirty="0"/>
          </a:p>
        </p:txBody>
      </p:sp>
    </p:spTree>
    <p:extLst>
      <p:ext uri="{BB962C8B-B14F-4D97-AF65-F5344CB8AC3E}">
        <p14:creationId xmlns:p14="http://schemas.microsoft.com/office/powerpoint/2010/main" val="2174736078"/>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6830B6-ECD7-E707-936F-3D18579AB110}"/>
              </a:ext>
            </a:extLst>
          </p:cNvPr>
          <p:cNvSpPr/>
          <p:nvPr/>
        </p:nvSpPr>
        <p:spPr>
          <a:xfrm>
            <a:off x="0" y="0"/>
            <a:ext cx="12456160" cy="6959600"/>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9900" dirty="0">
                <a:solidFill>
                  <a:schemeClr val="bg1"/>
                </a:solidFill>
              </a:rPr>
              <a:t>The End</a:t>
            </a:r>
            <a:endParaRPr lang="en-US" sz="1200" dirty="0">
              <a:solidFill>
                <a:schemeClr val="bg1"/>
              </a:solidFill>
            </a:endParaRPr>
          </a:p>
        </p:txBody>
      </p:sp>
    </p:spTree>
    <p:extLst>
      <p:ext uri="{BB962C8B-B14F-4D97-AF65-F5344CB8AC3E}">
        <p14:creationId xmlns:p14="http://schemas.microsoft.com/office/powerpoint/2010/main" val="1794742097"/>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2747</Words>
  <Application>Microsoft Office PowerPoint</Application>
  <PresentationFormat>Widescreen</PresentationFormat>
  <Paragraphs>628</Paragraphs>
  <Slides>63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Arial</vt:lpstr>
      <vt:lpstr>Calibri</vt:lpstr>
      <vt:lpstr>Calibri Light</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matin matin</dc:creator>
  <cp:lastModifiedBy>matin matin</cp:lastModifiedBy>
  <cp:revision>59</cp:revision>
  <dcterms:created xsi:type="dcterms:W3CDTF">2025-10-04T06:35:28Z</dcterms:created>
  <dcterms:modified xsi:type="dcterms:W3CDTF">2025-10-04T09:21:03Z</dcterms:modified>
</cp:coreProperties>
</file>